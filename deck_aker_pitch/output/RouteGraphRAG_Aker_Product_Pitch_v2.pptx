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6" d="100"/>
          <a:sy n="56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r>
              <a:rPr lang="en-CA"/>
              <a:t>NDCG@3 by method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NDCG@3</c:v>
          </c:tx>
          <c:invertIfNegative val="1"/>
          <c:cat>
            <c:strLit>
              <c:ptCount val="5"/>
              <c:pt idx="0">
                <c:v>Random</c:v>
              </c:pt>
              <c:pt idx="1">
                <c:v>Shortest</c:v>
              </c:pt>
              <c:pt idx="2">
                <c:v>Profile</c:v>
              </c:pt>
              <c:pt idx="3">
                <c:v>Prompt</c:v>
              </c:pt>
              <c:pt idx="4">
                <c:v>Hybrid</c:v>
              </c:pt>
            </c:strLit>
          </c:cat>
          <c:val>
            <c:numLit>
              <c:formatCode>General</c:formatCode>
              <c:ptCount val="5"/>
              <c:pt idx="0">
                <c:v>0.66800000000000004</c:v>
              </c:pt>
              <c:pt idx="1">
                <c:v>0.69</c:v>
              </c:pt>
              <c:pt idx="2">
                <c:v>0.72699999999999998</c:v>
              </c:pt>
              <c:pt idx="3">
                <c:v>0.67300000000000004</c:v>
              </c:pt>
              <c:pt idx="4">
                <c:v>0.67200000000000004</c:v>
              </c:pt>
            </c:numLit>
          </c:val>
          <c:extLst>
            <c:ext xmlns:c16="http://schemas.microsoft.com/office/drawing/2014/chart" uri="{C3380CC4-5D6E-409C-BE32-E72D297353CC}">
              <c16:uniqueId val="{00000000-B7D3-464C-8D11-8AC83EF180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FC0839D-E69D-4FFC-A7A5-8C4D5E9711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10E"/>
          </a:solidFill>
        </p:spPr>
        <p:txBody>
          <a:bodyPr/>
          <a:lstStyle/>
          <a:p>
            <a:endParaRPr lang="en-C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1A0962-5619-42D1-B0FA-FDC7E3C01C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10E">
              <a:alpha val="86667"/>
            </a:srgbClr>
          </a:solidFill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1B8371-A0B1-4318-8C71-9E9EE6CC0006}"/>
              </a:ext>
            </a:extLst>
          </p:cNvPr>
          <p:cNvSpPr>
            <a:spLocks noGrp="1"/>
          </p:cNvSpPr>
          <p:nvPr/>
        </p:nvSpPr>
        <p:spPr>
          <a:xfrm>
            <a:off x="876300" y="685800"/>
            <a:ext cx="2019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endParaRPr sz="1125" b="1" dirty="0">
              <a:solidFill>
                <a:srgbClr val="48D59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B20879-80C4-4851-BD44-4997456455F8}"/>
              </a:ext>
            </a:extLst>
          </p:cNvPr>
          <p:cNvSpPr>
            <a:spLocks noGrp="1"/>
          </p:cNvSpPr>
          <p:nvPr/>
        </p:nvSpPr>
        <p:spPr>
          <a:xfrm>
            <a:off x="876300" y="1238250"/>
            <a:ext cx="84963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100" b="1">
                <a:solidFill>
                  <a:srgbClr val="FFFFFF"/>
                </a:solidFill>
              </a:defRPr>
            </a:pPr>
            <a:r>
              <a:rPr sz="8100" b="1">
                <a:solidFill>
                  <a:srgbClr val="FFFFFF"/>
                </a:solidFill>
              </a:rPr>
              <a:t>RouteGraph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068DF8-EB68-4A37-94CC-2D6A6F0EA01A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84963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100" b="1">
                <a:solidFill>
                  <a:srgbClr val="48D597"/>
                </a:solidFill>
              </a:defRPr>
            </a:pPr>
            <a:r>
              <a:rPr sz="8100" b="1" dirty="0">
                <a:solidFill>
                  <a:srgbClr val="48D597"/>
                </a:solidFill>
              </a:rPr>
              <a:t>RAG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459781-EEB8-4514-B8F5-9EBB89DD426E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7219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CFE3D8"/>
                </a:solidFill>
              </a:defRPr>
            </a:pPr>
            <a:r>
              <a:rPr sz="2250">
                <a:solidFill>
                  <a:srgbClr val="CFE3D8"/>
                </a:solidFill>
              </a:rPr>
              <a:t>A product pitch for preference-aware route ranking from noisy geospatial signals.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FA44FB-BDD2-4491-A756-14DCC24A76EF}"/>
              </a:ext>
            </a:extLst>
          </p:cNvPr>
          <p:cNvSpPr>
            <a:spLocks noGrp="1"/>
          </p:cNvSpPr>
          <p:nvPr/>
        </p:nvSpPr>
        <p:spPr>
          <a:xfrm>
            <a:off x="9715500" y="7848600"/>
            <a:ext cx="76200" cy="685800"/>
          </a:xfrm>
          <a:prstGeom prst="rect">
            <a:avLst/>
          </a:prstGeom>
          <a:solidFill>
            <a:srgbClr val="48D597"/>
          </a:solidFill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96AC6-9185-455F-AD5E-E402827FB35C}"/>
              </a:ext>
            </a:extLst>
          </p:cNvPr>
          <p:cNvSpPr>
            <a:spLocks noGrp="1"/>
          </p:cNvSpPr>
          <p:nvPr/>
        </p:nvSpPr>
        <p:spPr>
          <a:xfrm>
            <a:off x="9963150" y="7829550"/>
            <a:ext cx="895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sz="1125" b="1" dirty="0">
                <a:solidFill>
                  <a:srgbClr val="48D597"/>
                </a:solidFill>
              </a:rPr>
              <a:t>SYSTEM SHAPE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8C1A5-2F2F-47D6-BEEE-534781D3EBE6}"/>
              </a:ext>
            </a:extLst>
          </p:cNvPr>
          <p:cNvSpPr>
            <a:spLocks noGrp="1"/>
          </p:cNvSpPr>
          <p:nvPr/>
        </p:nvSpPr>
        <p:spPr>
          <a:xfrm>
            <a:off x="9963150" y="8239125"/>
            <a:ext cx="7448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 dirty="0" err="1">
                <a:solidFill>
                  <a:srgbClr val="FFFFFF"/>
                </a:solidFill>
              </a:rPr>
              <a:t>FastAPI</a:t>
            </a:r>
            <a:r>
              <a:rPr sz="1875" b="1" dirty="0">
                <a:solidFill>
                  <a:srgbClr val="FFFFFF"/>
                </a:solidFill>
              </a:rPr>
              <a:t> service, </a:t>
            </a:r>
            <a:r>
              <a:rPr sz="1875" b="1" dirty="0" err="1">
                <a:solidFill>
                  <a:srgbClr val="FFFFFF"/>
                </a:solidFill>
              </a:rPr>
              <a:t>OSMnx</a:t>
            </a:r>
            <a:r>
              <a:rPr sz="1875" b="1" dirty="0">
                <a:solidFill>
                  <a:srgbClr val="FFFFFF"/>
                </a:solidFill>
              </a:rPr>
              <a:t> graph pipeline, dynamic profiles, </a:t>
            </a:r>
            <a:r>
              <a:rPr sz="1875" b="1" dirty="0" err="1">
                <a:solidFill>
                  <a:srgbClr val="FFFFFF"/>
                </a:solidFill>
              </a:rPr>
              <a:t>SBERT</a:t>
            </a:r>
            <a:r>
              <a:rPr sz="1875" b="1" dirty="0">
                <a:solidFill>
                  <a:srgbClr val="FFFFFF"/>
                </a:solidFill>
              </a:rPr>
              <a:t> ranking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D31EA3-B97C-462F-BDD3-8E69E6DD6280}"/>
              </a:ext>
            </a:extLst>
          </p:cNvPr>
          <p:cNvSpPr>
            <a:spLocks noGrp="1"/>
          </p:cNvSpPr>
          <p:nvPr/>
        </p:nvSpPr>
        <p:spPr>
          <a:xfrm>
            <a:off x="9715500" y="8763000"/>
            <a:ext cx="76200" cy="685800"/>
          </a:xfrm>
          <a:prstGeom prst="rect">
            <a:avLst/>
          </a:prstGeom>
          <a:solidFill>
            <a:srgbClr val="F5B84C"/>
          </a:solidFill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1365ED-9775-4B6A-BB9E-80E757316D51}"/>
              </a:ext>
            </a:extLst>
          </p:cNvPr>
          <p:cNvSpPr>
            <a:spLocks noGrp="1"/>
          </p:cNvSpPr>
          <p:nvPr/>
        </p:nvSpPr>
        <p:spPr>
          <a:xfrm>
            <a:off x="9963150" y="8763000"/>
            <a:ext cx="1104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5B84C"/>
                </a:solidFill>
              </a:defRPr>
            </a:pPr>
            <a:r>
              <a:rPr sz="1125" b="1">
                <a:solidFill>
                  <a:srgbClr val="F5B84C"/>
                </a:solidFill>
              </a:rPr>
              <a:t>INTERVIEW ANGLE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4B2F8-1B89-47C7-AA1D-18FB119CF6DB}"/>
              </a:ext>
            </a:extLst>
          </p:cNvPr>
          <p:cNvSpPr>
            <a:spLocks noGrp="1"/>
          </p:cNvSpPr>
          <p:nvPr/>
        </p:nvSpPr>
        <p:spPr>
          <a:xfrm>
            <a:off x="9963150" y="9163050"/>
            <a:ext cx="7448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 dirty="0">
                <a:solidFill>
                  <a:srgbClr val="FFFFFF"/>
                </a:solidFill>
              </a:rPr>
              <a:t>End-to-end AI system design with real caveats, not demo theater</a:t>
            </a:r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DFB71FCC-0E60-4E4F-8B07-F85DFC9DF9B8}"/>
              </a:ext>
            </a:extLst>
          </p:cNvPr>
          <p:cNvSpPr>
            <a:spLocks noGrp="1"/>
          </p:cNvSpPr>
          <p:nvPr/>
        </p:nvSpPr>
        <p:spPr>
          <a:xfrm>
            <a:off x="876300" y="9448800"/>
            <a:ext cx="8496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8FAEA0"/>
                </a:solidFill>
              </a:defRPr>
            </a:pPr>
            <a:r>
              <a:rPr sz="975">
                <a:solidFill>
                  <a:srgbClr val="8FAEA0"/>
                </a:solidFill>
              </a:rPr>
              <a:t>Built from the current repository artifacts and Aker AI Platform public role context.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6801ED-38E4-9B1C-9A83-04E822E42488}"/>
              </a:ext>
            </a:extLst>
          </p:cNvPr>
          <p:cNvSpPr>
            <a:spLocks noGrp="1"/>
          </p:cNvSpPr>
          <p:nvPr/>
        </p:nvSpPr>
        <p:spPr>
          <a:xfrm>
            <a:off x="937573" y="928901"/>
            <a:ext cx="1896754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lang="en-CA" sz="1125" b="1" dirty="0">
                <a:solidFill>
                  <a:srgbClr val="48D597"/>
                </a:solidFill>
              </a:rPr>
              <a:t>AKER AI PLATFORM ENGINEERING</a:t>
            </a:r>
            <a:endParaRPr sz="1125" b="1" dirty="0">
              <a:solidFill>
                <a:srgbClr val="48D5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648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0632D18-4299-4997-A375-946F3497D9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7F2"/>
          </a:solidFill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09AAAE-5B0D-4CDB-BC5B-365659348D02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1009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EA67A"/>
                </a:solidFill>
              </a:defRPr>
            </a:pPr>
            <a:r>
              <a:rPr sz="1125" b="1">
                <a:solidFill>
                  <a:srgbClr val="0EA67A"/>
                </a:solidFill>
              </a:rPr>
              <a:t>PRODUCT THESIS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C4D0810-73A4-4DE7-853A-69A8C87E30EB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6438900" cy="1524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10231F"/>
                </a:solidFill>
              </a:defRPr>
            </a:pPr>
            <a:r>
              <a:rPr sz="4950" b="1">
                <a:solidFill>
                  <a:srgbClr val="10231F"/>
                </a:solidFill>
              </a:rPr>
              <a:t>A route is an operational decision, not a polyline.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81EBEF-E082-46EF-948B-BE8E07AA09C1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7219950" cy="1295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526D64"/>
                </a:solidFill>
              </a:defRPr>
            </a:pPr>
            <a:r>
              <a:rPr sz="2100" dirty="0">
                <a:solidFill>
                  <a:srgbClr val="526D64"/>
                </a:solidFill>
              </a:rPr>
              <a:t>The product turns messy movement traces and OSM context into ranked, explainable choices: the same platform pattern Aker needs for investment, operations, resident experience, and internal knowledge tools.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E2C3F-AEA8-4C7A-8CEB-2E861AD26A2E}"/>
              </a:ext>
            </a:extLst>
          </p:cNvPr>
          <p:cNvSpPr>
            <a:spLocks noGrp="1"/>
          </p:cNvSpPr>
          <p:nvPr/>
        </p:nvSpPr>
        <p:spPr>
          <a:xfrm>
            <a:off x="9848850" y="3143250"/>
            <a:ext cx="75628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FF7660"/>
                </a:solidFill>
              </a:defRPr>
            </a:pPr>
            <a:r>
              <a:rPr sz="3900" b="1">
                <a:solidFill>
                  <a:srgbClr val="FF7660"/>
                </a:solidFill>
              </a:rPr>
              <a:t>messy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4CBAF1-6BDA-47CE-9673-74B1D9617200}"/>
              </a:ext>
            </a:extLst>
          </p:cNvPr>
          <p:cNvSpPr>
            <a:spLocks noGrp="1"/>
          </p:cNvSpPr>
          <p:nvPr/>
        </p:nvSpPr>
        <p:spPr>
          <a:xfrm>
            <a:off x="9848850" y="3790950"/>
            <a:ext cx="7562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public OSM traces, temporal context, incomplete labels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BFFE4F-DFD2-40E1-B971-20942E409309}"/>
              </a:ext>
            </a:extLst>
          </p:cNvPr>
          <p:cNvSpPr>
            <a:spLocks noGrp="1"/>
          </p:cNvSpPr>
          <p:nvPr/>
        </p:nvSpPr>
        <p:spPr>
          <a:xfrm>
            <a:off x="9848850" y="4305300"/>
            <a:ext cx="7562850" cy="19050"/>
          </a:xfrm>
          <a:prstGeom prst="rect">
            <a:avLst/>
          </a:prstGeom>
          <a:solidFill>
            <a:srgbClr val="D6E2DC"/>
          </a:solidFill>
          <a:ln w="0">
            <a:solidFill>
              <a:srgbClr val="D6E2D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D1D62-6040-41C1-8B53-EBA4F64B590B}"/>
              </a:ext>
            </a:extLst>
          </p:cNvPr>
          <p:cNvSpPr>
            <a:spLocks noGrp="1"/>
          </p:cNvSpPr>
          <p:nvPr/>
        </p:nvSpPr>
        <p:spPr>
          <a:xfrm>
            <a:off x="9848850" y="4648200"/>
            <a:ext cx="75628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0EA67A"/>
                </a:solidFill>
              </a:defRPr>
            </a:pPr>
            <a:r>
              <a:rPr sz="3900" b="1">
                <a:solidFill>
                  <a:srgbClr val="0EA67A"/>
                </a:solidFill>
              </a:rPr>
              <a:t>structured memory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F3ABA3-DE23-4BB6-83C8-454A7D3E1CC6}"/>
              </a:ext>
            </a:extLst>
          </p:cNvPr>
          <p:cNvSpPr>
            <a:spLocks noGrp="1"/>
          </p:cNvSpPr>
          <p:nvPr/>
        </p:nvSpPr>
        <p:spPr>
          <a:xfrm>
            <a:off x="9848850" y="5295900"/>
            <a:ext cx="7562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features, profile weights, route summaries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51E90A-6725-49E3-8CE4-70249916C6E3}"/>
              </a:ext>
            </a:extLst>
          </p:cNvPr>
          <p:cNvSpPr>
            <a:spLocks noGrp="1"/>
          </p:cNvSpPr>
          <p:nvPr/>
        </p:nvSpPr>
        <p:spPr>
          <a:xfrm>
            <a:off x="9848850" y="5810250"/>
            <a:ext cx="7562850" cy="19050"/>
          </a:xfrm>
          <a:prstGeom prst="rect">
            <a:avLst/>
          </a:prstGeom>
          <a:solidFill>
            <a:srgbClr val="D6E2DC"/>
          </a:solidFill>
          <a:ln w="0">
            <a:solidFill>
              <a:srgbClr val="D6E2D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D52199-4C9F-429A-9545-7232A129D685}"/>
              </a:ext>
            </a:extLst>
          </p:cNvPr>
          <p:cNvSpPr>
            <a:spLocks noGrp="1"/>
          </p:cNvSpPr>
          <p:nvPr/>
        </p:nvSpPr>
        <p:spPr>
          <a:xfrm>
            <a:off x="9848850" y="6153150"/>
            <a:ext cx="75628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F5B84C"/>
                </a:solidFill>
              </a:defRPr>
            </a:pPr>
            <a:r>
              <a:rPr sz="3900" b="1">
                <a:solidFill>
                  <a:srgbClr val="F5B84C"/>
                </a:solidFill>
              </a:rPr>
              <a:t>ranked 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11E81D-89A0-4ACD-9EE2-8C8005FF7133}"/>
              </a:ext>
            </a:extLst>
          </p:cNvPr>
          <p:cNvSpPr>
            <a:spLocks noGrp="1"/>
          </p:cNvSpPr>
          <p:nvPr/>
        </p:nvSpPr>
        <p:spPr>
          <a:xfrm>
            <a:off x="9848850" y="6819900"/>
            <a:ext cx="7562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candidate routes with scores and diagnostics</a:t>
            </a:r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C22DA8F-2F97-4B3B-8990-C1119E93A873}"/>
              </a:ext>
            </a:extLst>
          </p:cNvPr>
          <p:cNvSpPr>
            <a:spLocks noGrp="1"/>
          </p:cNvSpPr>
          <p:nvPr/>
        </p:nvSpPr>
        <p:spPr>
          <a:xfrm>
            <a:off x="876300" y="9429750"/>
            <a:ext cx="83629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87A79A"/>
                </a:solidFill>
              </a:defRPr>
            </a:pPr>
            <a:r>
              <a:rPr sz="975">
                <a:solidFill>
                  <a:srgbClr val="87A79A"/>
                </a:solidFill>
              </a:rPr>
              <a:t>Aker fit: internal AI platform work is about turning operational data into decisions with provenance.</a:t>
            </a:r>
          </a:p>
        </p:txBody>
      </p:sp>
    </p:spTree>
    <p:extLst>
      <p:ext uri="{BB962C8B-B14F-4D97-AF65-F5344CB8AC3E}">
        <p14:creationId xmlns:p14="http://schemas.microsoft.com/office/powerpoint/2010/main" val="205886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B4E4FF7-352C-4365-AF54-08E50FF115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713"/>
          </a:solidFill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D65B5C-D0E4-434D-B3E5-0A32F0EFAF9A}"/>
              </a:ext>
            </a:extLst>
          </p:cNvPr>
          <p:cNvSpPr>
            <a:spLocks noGrp="1"/>
          </p:cNvSpPr>
          <p:nvPr/>
        </p:nvSpPr>
        <p:spPr>
          <a:xfrm>
            <a:off x="819150" y="628650"/>
            <a:ext cx="1143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sz="1125" b="1" dirty="0">
                <a:solidFill>
                  <a:srgbClr val="48D597"/>
                </a:solidFill>
              </a:rPr>
              <a:t>PRODUCT SURFACE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4A9CF69-FD7C-40DF-A802-1825A7E0F354}"/>
              </a:ext>
            </a:extLst>
          </p:cNvPr>
          <p:cNvSpPr>
            <a:spLocks noGrp="1"/>
          </p:cNvSpPr>
          <p:nvPr/>
        </p:nvSpPr>
        <p:spPr>
          <a:xfrm>
            <a:off x="819150" y="1143000"/>
            <a:ext cx="849630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Ask like a human. Rank like a system.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E69F3F-16E3-44C8-A255-85F87E768D2E}"/>
              </a:ext>
            </a:extLst>
          </p:cNvPr>
          <p:cNvSpPr>
            <a:spLocks noGrp="1"/>
          </p:cNvSpPr>
          <p:nvPr/>
        </p:nvSpPr>
        <p:spPr>
          <a:xfrm>
            <a:off x="819149" y="2381250"/>
            <a:ext cx="10467549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CFE3D8"/>
                </a:solidFill>
              </a:defRPr>
            </a:pPr>
            <a:r>
              <a:rPr sz="1725" dirty="0">
                <a:solidFill>
                  <a:srgbClr val="CFE3D8"/>
                </a:solidFill>
              </a:rPr>
              <a:t>The backend combines natural-language preference, temporal context, user history, and candidate route features.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D9518-28D5-4621-B618-502BA51CDF70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1638300" cy="47625"/>
          </a:xfrm>
          <a:prstGeom prst="rect">
            <a:avLst/>
          </a:prstGeom>
          <a:solidFill>
            <a:srgbClr val="48D597"/>
          </a:solidFill>
          <a:ln w="0">
            <a:solidFill>
              <a:srgbClr val="48D59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C89FDA-6A8A-4C44-96D3-076326125B89}"/>
              </a:ext>
            </a:extLst>
          </p:cNvPr>
          <p:cNvSpPr>
            <a:spLocks noGrp="1"/>
          </p:cNvSpPr>
          <p:nvPr/>
        </p:nvSpPr>
        <p:spPr>
          <a:xfrm>
            <a:off x="8458200" y="628650"/>
            <a:ext cx="9525" cy="9525"/>
          </a:xfrm>
          <a:prstGeom prst="rect">
            <a:avLst/>
          </a:prstGeom>
          <a:noFill/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45DE08-E8EE-41B0-B294-0EF86D65DDFB}"/>
              </a:ext>
            </a:extLst>
          </p:cNvPr>
          <p:cNvSpPr>
            <a:spLocks noGrp="1"/>
          </p:cNvSpPr>
          <p:nvPr/>
        </p:nvSpPr>
        <p:spPr>
          <a:xfrm>
            <a:off x="819150" y="3505200"/>
            <a:ext cx="666750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Prefer quieter walking routes near parks and away from major roads.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581ED-922E-4E48-8842-63D19D37B118}"/>
              </a:ext>
            </a:extLst>
          </p:cNvPr>
          <p:cNvSpPr>
            <a:spLocks noGrp="1"/>
          </p:cNvSpPr>
          <p:nvPr/>
        </p:nvSpPr>
        <p:spPr>
          <a:xfrm>
            <a:off x="819150" y="4743450"/>
            <a:ext cx="33718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7EA6FF"/>
                </a:solidFill>
              </a:defRPr>
            </a:pPr>
            <a:r>
              <a:rPr sz="2850" b="1">
                <a:solidFill>
                  <a:srgbClr val="7EA6FF"/>
                </a:solidFill>
              </a:rPr>
              <a:t>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2952A2-FC26-486F-BB81-7900B00910E6}"/>
              </a:ext>
            </a:extLst>
          </p:cNvPr>
          <p:cNvSpPr>
            <a:spLocks noGrp="1"/>
          </p:cNvSpPr>
          <p:nvPr/>
        </p:nvSpPr>
        <p:spPr>
          <a:xfrm>
            <a:off x="819150" y="5238750"/>
            <a:ext cx="3371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semantic route-summary match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89950C-1E5C-4DCB-A727-ACCFCEC03A50}"/>
              </a:ext>
            </a:extLst>
          </p:cNvPr>
          <p:cNvSpPr>
            <a:spLocks noGrp="1"/>
          </p:cNvSpPr>
          <p:nvPr/>
        </p:nvSpPr>
        <p:spPr>
          <a:xfrm>
            <a:off x="4514850" y="4743450"/>
            <a:ext cx="33718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48D597"/>
                </a:solidFill>
              </a:defRPr>
            </a:pPr>
            <a:r>
              <a:rPr sz="2850" b="1">
                <a:solidFill>
                  <a:srgbClr val="48D597"/>
                </a:solidFill>
              </a:rPr>
              <a:t>profile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E492FA-9CAE-492B-8051-E70EE23809CD}"/>
              </a:ext>
            </a:extLst>
          </p:cNvPr>
          <p:cNvSpPr>
            <a:spLocks noGrp="1"/>
          </p:cNvSpPr>
          <p:nvPr/>
        </p:nvSpPr>
        <p:spPr>
          <a:xfrm>
            <a:off x="4514850" y="5238750"/>
            <a:ext cx="3371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dynamic feature weights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15DB6A-E084-4892-A4C4-69E2248B1C6B}"/>
              </a:ext>
            </a:extLst>
          </p:cNvPr>
          <p:cNvSpPr>
            <a:spLocks noGrp="1"/>
          </p:cNvSpPr>
          <p:nvPr/>
        </p:nvSpPr>
        <p:spPr>
          <a:xfrm>
            <a:off x="819150" y="5715000"/>
            <a:ext cx="33718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F5B84C"/>
                </a:solidFill>
              </a:defRPr>
            </a:pPr>
            <a:r>
              <a:rPr sz="2850" b="1">
                <a:solidFill>
                  <a:srgbClr val="F5B84C"/>
                </a:solidFill>
              </a:rPr>
              <a:t>hybrid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EA086-084D-41A5-82DA-952EFB49AC2D}"/>
              </a:ext>
            </a:extLst>
          </p:cNvPr>
          <p:cNvSpPr>
            <a:spLocks noGrp="1"/>
          </p:cNvSpPr>
          <p:nvPr/>
        </p:nvSpPr>
        <p:spPr>
          <a:xfrm>
            <a:off x="819150" y="6210300"/>
            <a:ext cx="3371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0.75 profile + 0.25 SBERT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BEFCB-4B3F-4E47-B545-F2A7BB6E7F1E}"/>
              </a:ext>
            </a:extLst>
          </p:cNvPr>
          <p:cNvSpPr>
            <a:spLocks noGrp="1"/>
          </p:cNvSpPr>
          <p:nvPr/>
        </p:nvSpPr>
        <p:spPr>
          <a:xfrm>
            <a:off x="4514850" y="5715000"/>
            <a:ext cx="33718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FF7660"/>
                </a:solidFill>
              </a:defRPr>
            </a:pPr>
            <a:r>
              <a:rPr sz="2850" b="1">
                <a:solidFill>
                  <a:srgbClr val="FF7660"/>
                </a:solidFill>
              </a:rPr>
              <a:t>explain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091B3E-E655-4454-93A1-D1393CDE7DCD}"/>
              </a:ext>
            </a:extLst>
          </p:cNvPr>
          <p:cNvSpPr>
            <a:spLocks noGrp="1"/>
          </p:cNvSpPr>
          <p:nvPr/>
        </p:nvSpPr>
        <p:spPr>
          <a:xfrm>
            <a:off x="4514850" y="6210300"/>
            <a:ext cx="3371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features, scores, coordinates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CB54D2-9F53-4844-AC25-D941E2081069}"/>
              </a:ext>
            </a:extLst>
          </p:cNvPr>
          <p:cNvSpPr>
            <a:spLocks noGrp="1"/>
          </p:cNvSpPr>
          <p:nvPr/>
        </p:nvSpPr>
        <p:spPr>
          <a:xfrm>
            <a:off x="8458200" y="3505200"/>
            <a:ext cx="76200" cy="685800"/>
          </a:xfrm>
          <a:prstGeom prst="rect">
            <a:avLst/>
          </a:prstGeom>
          <a:solidFill>
            <a:srgbClr val="7EA6FF"/>
          </a:solidFill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F1BD3-C596-45AA-8148-937A4E6977F5}"/>
              </a:ext>
            </a:extLst>
          </p:cNvPr>
          <p:cNvSpPr>
            <a:spLocks noGrp="1"/>
          </p:cNvSpPr>
          <p:nvPr/>
        </p:nvSpPr>
        <p:spPr>
          <a:xfrm>
            <a:off x="8705850" y="3505200"/>
            <a:ext cx="381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7EA6FF"/>
                </a:solidFill>
              </a:defRPr>
            </a:pPr>
            <a:r>
              <a:rPr sz="1125" b="1">
                <a:solidFill>
                  <a:srgbClr val="7EA6FF"/>
                </a:solidFill>
              </a:rPr>
              <a:t>INPUT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C97EBF-4353-4595-ADD7-C08617AE0E19}"/>
              </a:ext>
            </a:extLst>
          </p:cNvPr>
          <p:cNvSpPr>
            <a:spLocks noGrp="1"/>
          </p:cNvSpPr>
          <p:nvPr/>
        </p:nvSpPr>
        <p:spPr>
          <a:xfrm>
            <a:off x="8705850" y="3886200"/>
            <a:ext cx="876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origin, destination, preference, timestamp, user_id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98B39E-33B1-4569-A260-E2DE2F4CFDB0}"/>
              </a:ext>
            </a:extLst>
          </p:cNvPr>
          <p:cNvSpPr>
            <a:spLocks noGrp="1"/>
          </p:cNvSpPr>
          <p:nvPr/>
        </p:nvSpPr>
        <p:spPr>
          <a:xfrm>
            <a:off x="8458200" y="4381500"/>
            <a:ext cx="76200" cy="685800"/>
          </a:xfrm>
          <a:prstGeom prst="rect">
            <a:avLst/>
          </a:prstGeom>
          <a:solidFill>
            <a:srgbClr val="48D597"/>
          </a:solidFill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91A2D7-2A6B-4678-B364-8B321E07B75E}"/>
              </a:ext>
            </a:extLst>
          </p:cNvPr>
          <p:cNvSpPr>
            <a:spLocks noGrp="1"/>
          </p:cNvSpPr>
          <p:nvPr/>
        </p:nvSpPr>
        <p:spPr>
          <a:xfrm>
            <a:off x="8705850" y="4400550"/>
            <a:ext cx="1504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sz="1125" b="1">
                <a:solidFill>
                  <a:srgbClr val="48D597"/>
                </a:solidFill>
              </a:rPr>
              <a:t>CANDIDATE GENERATION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76EE1D-CB6E-410C-B81E-A560526513AD}"/>
              </a:ext>
            </a:extLst>
          </p:cNvPr>
          <p:cNvSpPr>
            <a:spLocks noGrp="1"/>
          </p:cNvSpPr>
          <p:nvPr/>
        </p:nvSpPr>
        <p:spPr>
          <a:xfrm>
            <a:off x="8705850" y="4781550"/>
            <a:ext cx="876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k diverse walking routes under length, scenic, safe, and simple costs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B0661-0690-4770-936E-1DDE18E5D5B9}"/>
              </a:ext>
            </a:extLst>
          </p:cNvPr>
          <p:cNvSpPr>
            <a:spLocks noGrp="1"/>
          </p:cNvSpPr>
          <p:nvPr/>
        </p:nvSpPr>
        <p:spPr>
          <a:xfrm>
            <a:off x="8458200" y="5295900"/>
            <a:ext cx="76200" cy="685800"/>
          </a:xfrm>
          <a:prstGeom prst="rect">
            <a:avLst/>
          </a:prstGeom>
          <a:solidFill>
            <a:srgbClr val="F5B84C"/>
          </a:solidFill>
        </p:spPr>
        <p:txBody>
          <a:bodyPr/>
          <a:lstStyle/>
          <a:p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CC06D-D287-4FF5-B3C3-B45F5A39EA5F}"/>
              </a:ext>
            </a:extLst>
          </p:cNvPr>
          <p:cNvSpPr>
            <a:spLocks noGrp="1"/>
          </p:cNvSpPr>
          <p:nvPr/>
        </p:nvSpPr>
        <p:spPr>
          <a:xfrm>
            <a:off x="8705850" y="5295900"/>
            <a:ext cx="571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5B84C"/>
                </a:solidFill>
              </a:defRPr>
            </a:pPr>
            <a:r>
              <a:rPr sz="1125" b="1">
                <a:solidFill>
                  <a:srgbClr val="F5B84C"/>
                </a:solidFill>
              </a:rPr>
              <a:t>RANKING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3D0F7E-6079-4B75-B5F4-1A57FADC83FF}"/>
              </a:ext>
            </a:extLst>
          </p:cNvPr>
          <p:cNvSpPr>
            <a:spLocks noGrp="1"/>
          </p:cNvSpPr>
          <p:nvPr/>
        </p:nvSpPr>
        <p:spPr>
          <a:xfrm>
            <a:off x="8705850" y="5676900"/>
            <a:ext cx="876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same candidate pool scored by random, shortest, profile, prompt/SBERT, hybrid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6A21CD-EF09-4E8F-8B01-17C57DF3788C}"/>
              </a:ext>
            </a:extLst>
          </p:cNvPr>
          <p:cNvSpPr>
            <a:spLocks noGrp="1"/>
          </p:cNvSpPr>
          <p:nvPr/>
        </p:nvSpPr>
        <p:spPr>
          <a:xfrm>
            <a:off x="8458200" y="6172200"/>
            <a:ext cx="76200" cy="685800"/>
          </a:xfrm>
          <a:prstGeom prst="rect">
            <a:avLst/>
          </a:prstGeom>
          <a:solidFill>
            <a:srgbClr val="FF7660"/>
          </a:solidFill>
        </p:spPr>
        <p:txBody>
          <a:bodyPr/>
          <a:lstStyle/>
          <a:p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66A38D-F5E5-488D-89CE-10E6355625B1}"/>
              </a:ext>
            </a:extLst>
          </p:cNvPr>
          <p:cNvSpPr>
            <a:spLocks noGrp="1"/>
          </p:cNvSpPr>
          <p:nvPr/>
        </p:nvSpPr>
        <p:spPr>
          <a:xfrm>
            <a:off x="8705850" y="6191250"/>
            <a:ext cx="628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7660"/>
                </a:solidFill>
              </a:defRPr>
            </a:pPr>
            <a:r>
              <a:rPr sz="1125" b="1">
                <a:solidFill>
                  <a:srgbClr val="FF7660"/>
                </a:solidFill>
              </a:rPr>
              <a:t>RESPONSE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9616E1-4B65-4583-8A3A-64A1AC9BFC9F}"/>
              </a:ext>
            </a:extLst>
          </p:cNvPr>
          <p:cNvSpPr>
            <a:spLocks noGrp="1"/>
          </p:cNvSpPr>
          <p:nvPr/>
        </p:nvSpPr>
        <p:spPr>
          <a:xfrm>
            <a:off x="8705850" y="6400800"/>
            <a:ext cx="876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ranked route list with component scores, features, summary, profile explanation</a:t>
            </a:r>
          </a:p>
        </p:txBody>
      </p:sp>
      <p:sp>
        <p:nvSpPr>
          <p:cNvPr id="28" name="footer">
            <a:extLst>
              <a:ext uri="{FF2B5EF4-FFF2-40B4-BE49-F238E27FC236}">
                <a16:creationId xmlns:a16="http://schemas.microsoft.com/office/drawing/2014/main" id="{7C757CD1-92E7-436E-AD2C-29ADFB191988}"/>
              </a:ext>
            </a:extLst>
          </p:cNvPr>
          <p:cNvSpPr>
            <a:spLocks noGrp="1"/>
          </p:cNvSpPr>
          <p:nvPr/>
        </p:nvSpPr>
        <p:spPr>
          <a:xfrm>
            <a:off x="819150" y="9505950"/>
            <a:ext cx="70866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87A79A"/>
                </a:solidFill>
              </a:defRPr>
            </a:pPr>
            <a:r>
              <a:rPr sz="975">
                <a:solidFill>
                  <a:srgbClr val="87A79A"/>
                </a:solidFill>
              </a:rPr>
              <a:t>Current backend endpoint: /rank-routes.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0A02CB-CFFF-4A6D-9BC3-B339889D19FD}"/>
              </a:ext>
            </a:extLst>
          </p:cNvPr>
          <p:cNvSpPr>
            <a:spLocks noGrp="1"/>
          </p:cNvSpPr>
          <p:nvPr/>
        </p:nvSpPr>
        <p:spPr>
          <a:xfrm>
            <a:off x="8458200" y="9505950"/>
            <a:ext cx="9525" cy="9525"/>
          </a:xfrm>
          <a:prstGeom prst="rect">
            <a:avLst/>
          </a:prstGeom>
          <a:noFill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791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298E7B7-E801-4D8C-8EF2-4C9EDB21FD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10E"/>
          </a:solidFill>
        </p:spPr>
        <p:txBody>
          <a:bodyPr/>
          <a:lstStyle/>
          <a:p>
            <a:endParaRPr lang="en-C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B708BA-D60B-417F-86A0-4415D288AF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10E">
              <a:alpha val="71373"/>
            </a:srgbClr>
          </a:solidFill>
        </p:spPr>
        <p:txBody>
          <a:bodyPr/>
          <a:lstStyle/>
          <a:p>
            <a:endParaRPr lang="en-CA" dirty="0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FCC14436-EAEE-4AB9-8509-8E73AF027F8C}"/>
              </a:ext>
            </a:extLst>
          </p:cNvPr>
          <p:cNvSpPr>
            <a:spLocks noGrp="1"/>
          </p:cNvSpPr>
          <p:nvPr/>
        </p:nvSpPr>
        <p:spPr>
          <a:xfrm>
            <a:off x="971550" y="1576743"/>
            <a:ext cx="6153150" cy="2000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FFFF"/>
                </a:solidFill>
              </a:defRPr>
            </a:pPr>
            <a:r>
              <a:rPr sz="4350" b="1" dirty="0">
                <a:solidFill>
                  <a:srgbClr val="FFFFFF"/>
                </a:solidFill>
              </a:rPr>
              <a:t>The model only earns trust if the reconstruction does.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2DCE1C-CC81-49F6-9152-60682164A77E}"/>
              </a:ext>
            </a:extLst>
          </p:cNvPr>
          <p:cNvSpPr>
            <a:spLocks noGrp="1"/>
          </p:cNvSpPr>
          <p:nvPr/>
        </p:nvSpPr>
        <p:spPr>
          <a:xfrm>
            <a:off x="10604595" y="3380380"/>
            <a:ext cx="61341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CFE3D8"/>
                </a:solidFill>
              </a:defRPr>
            </a:pPr>
            <a:r>
              <a:rPr sz="1875" dirty="0">
                <a:solidFill>
                  <a:srgbClr val="CFE3D8"/>
                </a:solidFill>
              </a:rPr>
              <a:t>This route field is generated from actual pseudo-history records in the repo: raw public GPS samples reconstructed onto OSM walking geometry.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409C29-5C47-41E7-8A26-D90A4A467305}"/>
              </a:ext>
            </a:extLst>
          </p:cNvPr>
          <p:cNvSpPr>
            <a:spLocks noGrp="1"/>
          </p:cNvSpPr>
          <p:nvPr/>
        </p:nvSpPr>
        <p:spPr>
          <a:xfrm>
            <a:off x="7391400" y="685800"/>
            <a:ext cx="10058400" cy="8839200"/>
          </a:xfrm>
          <a:prstGeom prst="rect">
            <a:avLst/>
          </a:prstGeom>
          <a:noFill/>
        </p:spPr>
        <p:txBody>
          <a:bodyPr/>
          <a:lstStyle/>
          <a:p>
            <a:endParaRPr lang="en-CA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60FE3897-710F-4139-94F2-BA55E8B65AC6}"/>
              </a:ext>
            </a:extLst>
          </p:cNvPr>
          <p:cNvSpPr>
            <a:spLocks noGrp="1"/>
          </p:cNvSpPr>
          <p:nvPr/>
        </p:nvSpPr>
        <p:spPr>
          <a:xfrm>
            <a:off x="819150" y="9486900"/>
            <a:ext cx="6038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9AB9AC"/>
                </a:solidFill>
              </a:defRPr>
            </a:pPr>
            <a:r>
              <a:rPr sz="975">
                <a:solidFill>
                  <a:srgbClr val="9AB9AC"/>
                </a:solidFill>
              </a:rPr>
              <a:t>Use the precise wording: OSM-derived historical movement signals, not clean per-user histories.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9975A-C6F2-260F-3122-00B7C8CFF64E}"/>
              </a:ext>
            </a:extLst>
          </p:cNvPr>
          <p:cNvSpPr>
            <a:spLocks noGrp="1"/>
          </p:cNvSpPr>
          <p:nvPr/>
        </p:nvSpPr>
        <p:spPr>
          <a:xfrm>
            <a:off x="971550" y="1126082"/>
            <a:ext cx="1143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lang="en-CA" sz="1125" b="1" dirty="0">
                <a:solidFill>
                  <a:srgbClr val="48D597"/>
                </a:solidFill>
              </a:rPr>
              <a:t>DATA REALITY</a:t>
            </a:r>
            <a:endParaRPr sz="1125" b="1" dirty="0">
              <a:solidFill>
                <a:srgbClr val="48D5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353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8F215DF-EA09-48C8-A3E3-CA2485198303}"/>
              </a:ext>
            </a:extLst>
          </p:cNvPr>
          <p:cNvSpPr>
            <a:spLocks noGrp="1"/>
          </p:cNvSpPr>
          <p:nvPr/>
        </p:nvSpPr>
        <p:spPr>
          <a:xfrm>
            <a:off x="27296" y="0"/>
            <a:ext cx="18288000" cy="10287000"/>
          </a:xfrm>
          <a:prstGeom prst="rect">
            <a:avLst/>
          </a:prstGeom>
          <a:solidFill>
            <a:srgbClr val="F5F7F2"/>
          </a:solidFill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F5FC42-3782-432C-95D7-7D0A1E3AECE1}"/>
              </a:ext>
            </a:extLst>
          </p:cNvPr>
          <p:cNvSpPr>
            <a:spLocks noGrp="1"/>
          </p:cNvSpPr>
          <p:nvPr/>
        </p:nvSpPr>
        <p:spPr>
          <a:xfrm>
            <a:off x="781050" y="590550"/>
            <a:ext cx="781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EA67A"/>
                </a:solidFill>
              </a:defRPr>
            </a:pPr>
            <a:r>
              <a:rPr sz="1125" b="1">
                <a:solidFill>
                  <a:srgbClr val="0EA67A"/>
                </a:solidFill>
              </a:rPr>
              <a:t>SYSTEM MAP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69958D7-A860-45CF-AC50-35CDE67576E6}"/>
              </a:ext>
            </a:extLst>
          </p:cNvPr>
          <p:cNvSpPr>
            <a:spLocks noGrp="1"/>
          </p:cNvSpPr>
          <p:nvPr/>
        </p:nvSpPr>
        <p:spPr>
          <a:xfrm>
            <a:off x="781050" y="1066800"/>
            <a:ext cx="11182350" cy="1295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10231F"/>
                </a:solidFill>
              </a:defRPr>
            </a:pPr>
            <a:r>
              <a:rPr sz="4200" b="1">
                <a:solidFill>
                  <a:srgbClr val="10231F"/>
                </a:solidFill>
              </a:rPr>
              <a:t>One route representation flows through the whole system.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029920-BD7F-4F6B-832A-07C9895619FD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11658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526D64"/>
                </a:solidFill>
              </a:defRPr>
            </a:pPr>
            <a:r>
              <a:rPr sz="1725">
                <a:solidFill>
                  <a:srgbClr val="526D64"/>
                </a:solidFill>
              </a:rPr>
              <a:t>That is the important design choice: the model-facing text and the numerical scorer are derived from the same OSM feature object.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8B180-E0F7-4E8E-8A6E-1B43488405C7}"/>
              </a:ext>
            </a:extLst>
          </p:cNvPr>
          <p:cNvSpPr>
            <a:spLocks noGrp="1"/>
          </p:cNvSpPr>
          <p:nvPr/>
        </p:nvSpPr>
        <p:spPr>
          <a:xfrm>
            <a:off x="800100" y="3124200"/>
            <a:ext cx="76200" cy="685800"/>
          </a:xfrm>
          <a:prstGeom prst="rect">
            <a:avLst/>
          </a:prstGeom>
          <a:solidFill>
            <a:srgbClr val="7EA6FF"/>
          </a:solidFill>
        </p:spPr>
        <p:txBody>
          <a:bodyPr/>
          <a:lstStyle/>
          <a:p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909D79-812A-4DD2-8F3D-BF2B342BB68E}"/>
              </a:ext>
            </a:extLst>
          </p:cNvPr>
          <p:cNvSpPr>
            <a:spLocks noGrp="1"/>
          </p:cNvSpPr>
          <p:nvPr/>
        </p:nvSpPr>
        <p:spPr>
          <a:xfrm>
            <a:off x="1028700" y="3124200"/>
            <a:ext cx="571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7EA6FF"/>
                </a:solidFill>
              </a:defRPr>
            </a:pPr>
            <a:r>
              <a:rPr sz="1125" b="1" dirty="0">
                <a:solidFill>
                  <a:srgbClr val="7EA6FF"/>
                </a:solidFill>
              </a:rPr>
              <a:t>01 PROBE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54E485-821D-414C-93FC-DD4B914D842B}"/>
              </a:ext>
            </a:extLst>
          </p:cNvPr>
          <p:cNvSpPr>
            <a:spLocks noGrp="1"/>
          </p:cNvSpPr>
          <p:nvPr/>
        </p:nvSpPr>
        <p:spPr>
          <a:xfrm>
            <a:off x="1038936" y="3543300"/>
            <a:ext cx="3733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231F"/>
                </a:solidFill>
              </a:defRPr>
            </a:pPr>
            <a:r>
              <a:rPr sz="1875" b="1" dirty="0">
                <a:solidFill>
                  <a:srgbClr val="10231F"/>
                </a:solidFill>
              </a:rPr>
              <a:t>OSM public GPS </a:t>
            </a:r>
            <a:r>
              <a:rPr sz="1875" b="1" dirty="0" err="1">
                <a:solidFill>
                  <a:srgbClr val="10231F"/>
                </a:solidFill>
              </a:rPr>
              <a:t>trackpoints</a:t>
            </a:r>
            <a:endParaRPr sz="1875" b="1" dirty="0">
              <a:solidFill>
                <a:srgbClr val="10231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28CEBF-E36F-492F-916C-679635F84F6E}"/>
              </a:ext>
            </a:extLst>
          </p:cNvPr>
          <p:cNvSpPr>
            <a:spLocks noGrp="1"/>
          </p:cNvSpPr>
          <p:nvPr/>
        </p:nvSpPr>
        <p:spPr>
          <a:xfrm>
            <a:off x="5029200" y="3124200"/>
            <a:ext cx="76200" cy="685800"/>
          </a:xfrm>
          <a:prstGeom prst="rect">
            <a:avLst/>
          </a:prstGeom>
          <a:solidFill>
            <a:srgbClr val="0EA67A"/>
          </a:solidFill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FBC6FC-F1E7-483C-B195-8AD3CA824A45}"/>
              </a:ext>
            </a:extLst>
          </p:cNvPr>
          <p:cNvSpPr>
            <a:spLocks noGrp="1"/>
          </p:cNvSpPr>
          <p:nvPr/>
        </p:nvSpPr>
        <p:spPr>
          <a:xfrm>
            <a:off x="5276850" y="3124200"/>
            <a:ext cx="76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EA67A"/>
                </a:solidFill>
              </a:defRPr>
            </a:pPr>
            <a:r>
              <a:rPr sz="1125" b="1">
                <a:solidFill>
                  <a:srgbClr val="0EA67A"/>
                </a:solidFill>
              </a:rPr>
              <a:t>02 SEGMENT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69FF47-B13D-4BF5-9BD7-E1D62471EA31}"/>
              </a:ext>
            </a:extLst>
          </p:cNvPr>
          <p:cNvSpPr>
            <a:spLocks noGrp="1"/>
          </p:cNvSpPr>
          <p:nvPr/>
        </p:nvSpPr>
        <p:spPr>
          <a:xfrm>
            <a:off x="5276850" y="3524250"/>
            <a:ext cx="3733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231F"/>
                </a:solidFill>
              </a:defRPr>
            </a:pPr>
            <a:r>
              <a:rPr sz="1875" b="1">
                <a:solidFill>
                  <a:srgbClr val="10231F"/>
                </a:solidFill>
              </a:rPr>
              <a:t>time gaps, jumps, useful movement filters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B18147-E8A6-45C9-B28C-1B0AF1E261D5}"/>
              </a:ext>
            </a:extLst>
          </p:cNvPr>
          <p:cNvSpPr>
            <a:spLocks noGrp="1"/>
          </p:cNvSpPr>
          <p:nvPr/>
        </p:nvSpPr>
        <p:spPr>
          <a:xfrm>
            <a:off x="9296400" y="3124200"/>
            <a:ext cx="76200" cy="685800"/>
          </a:xfrm>
          <a:prstGeom prst="rect">
            <a:avLst/>
          </a:prstGeom>
          <a:solidFill>
            <a:srgbClr val="F5B84C"/>
          </a:solidFill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B0113C-DD68-45C9-BD7A-36F62BE6B221}"/>
              </a:ext>
            </a:extLst>
          </p:cNvPr>
          <p:cNvSpPr>
            <a:spLocks noGrp="1"/>
          </p:cNvSpPr>
          <p:nvPr/>
        </p:nvSpPr>
        <p:spPr>
          <a:xfrm>
            <a:off x="9525000" y="3124200"/>
            <a:ext cx="609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5B84C"/>
                </a:solidFill>
              </a:defRPr>
            </a:pPr>
            <a:r>
              <a:rPr sz="1125" b="1">
                <a:solidFill>
                  <a:srgbClr val="F5B84C"/>
                </a:solidFill>
              </a:rPr>
              <a:t>03 MATCH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256AD9-FA5E-4789-8761-D5FB0A7A0702}"/>
              </a:ext>
            </a:extLst>
          </p:cNvPr>
          <p:cNvSpPr>
            <a:spLocks noGrp="1"/>
          </p:cNvSpPr>
          <p:nvPr/>
        </p:nvSpPr>
        <p:spPr>
          <a:xfrm>
            <a:off x="9525000" y="3524250"/>
            <a:ext cx="3733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231F"/>
                </a:solidFill>
              </a:defRPr>
            </a:pPr>
            <a:r>
              <a:rPr sz="1875" b="1">
                <a:solidFill>
                  <a:srgbClr val="10231F"/>
                </a:solidFill>
              </a:rPr>
              <a:t>nearest nodes plus shortest-path stitching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397092-BCFE-4789-88A9-2E1037BC412E}"/>
              </a:ext>
            </a:extLst>
          </p:cNvPr>
          <p:cNvSpPr>
            <a:spLocks noGrp="1"/>
          </p:cNvSpPr>
          <p:nvPr/>
        </p:nvSpPr>
        <p:spPr>
          <a:xfrm>
            <a:off x="13525500" y="3124200"/>
            <a:ext cx="76200" cy="685800"/>
          </a:xfrm>
          <a:prstGeom prst="rect">
            <a:avLst/>
          </a:prstGeom>
          <a:solidFill>
            <a:srgbClr val="FF7660"/>
          </a:solidFill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CE0CDC-8152-4BF6-AB1F-9171129A6B43}"/>
              </a:ext>
            </a:extLst>
          </p:cNvPr>
          <p:cNvSpPr>
            <a:spLocks noGrp="1"/>
          </p:cNvSpPr>
          <p:nvPr/>
        </p:nvSpPr>
        <p:spPr>
          <a:xfrm>
            <a:off x="13773150" y="3124200"/>
            <a:ext cx="704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7660"/>
                </a:solidFill>
              </a:defRPr>
            </a:pPr>
            <a:r>
              <a:rPr sz="1125" b="1">
                <a:solidFill>
                  <a:srgbClr val="FF7660"/>
                </a:solidFill>
              </a:rPr>
              <a:t>04 EXTRACT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68B5A7-E4C2-4360-93A9-EDE668E73877}"/>
              </a:ext>
            </a:extLst>
          </p:cNvPr>
          <p:cNvSpPr>
            <a:spLocks noGrp="1"/>
          </p:cNvSpPr>
          <p:nvPr/>
        </p:nvSpPr>
        <p:spPr>
          <a:xfrm>
            <a:off x="13773150" y="3457149"/>
            <a:ext cx="3733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231F"/>
                </a:solidFill>
              </a:defRPr>
            </a:pPr>
            <a:r>
              <a:rPr sz="1875" b="1" dirty="0">
                <a:solidFill>
                  <a:srgbClr val="10231F"/>
                </a:solidFill>
              </a:rPr>
              <a:t>road mix, parks, turns, lighting, crossings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871D6C-194A-4B76-BEFC-E835F156CBD8}"/>
              </a:ext>
            </a:extLst>
          </p:cNvPr>
          <p:cNvSpPr>
            <a:spLocks noGrp="1"/>
          </p:cNvSpPr>
          <p:nvPr/>
        </p:nvSpPr>
        <p:spPr>
          <a:xfrm>
            <a:off x="800100" y="6286500"/>
            <a:ext cx="76200" cy="685800"/>
          </a:xfrm>
          <a:prstGeom prst="rect">
            <a:avLst/>
          </a:prstGeom>
          <a:solidFill>
            <a:srgbClr val="7EA6FF"/>
          </a:solidFill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9C2684-9DFF-42F4-98FF-C942C703391F}"/>
              </a:ext>
            </a:extLst>
          </p:cNvPr>
          <p:cNvSpPr>
            <a:spLocks noGrp="1"/>
          </p:cNvSpPr>
          <p:nvPr/>
        </p:nvSpPr>
        <p:spPr>
          <a:xfrm>
            <a:off x="1028700" y="6267450"/>
            <a:ext cx="666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7EA6FF"/>
                </a:solidFill>
              </a:defRPr>
            </a:pPr>
            <a:r>
              <a:rPr sz="1125" b="1">
                <a:solidFill>
                  <a:srgbClr val="7EA6FF"/>
                </a:solidFill>
              </a:rPr>
              <a:t>05 PROFILE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E066FA-3C60-4B04-BA7A-E61534D1A2CE}"/>
              </a:ext>
            </a:extLst>
          </p:cNvPr>
          <p:cNvSpPr>
            <a:spLocks noGrp="1"/>
          </p:cNvSpPr>
          <p:nvPr/>
        </p:nvSpPr>
        <p:spPr>
          <a:xfrm>
            <a:off x="1028700" y="6496050"/>
            <a:ext cx="3733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231F"/>
                </a:solidFill>
              </a:defRPr>
            </a:pPr>
            <a:r>
              <a:rPr sz="1875" b="1">
                <a:solidFill>
                  <a:srgbClr val="10231F"/>
                </a:solidFill>
              </a:rPr>
              <a:t>contextual weights from prior signals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D7B65C-3F8E-43EC-A599-B5E4AF4BE1D8}"/>
              </a:ext>
            </a:extLst>
          </p:cNvPr>
          <p:cNvSpPr>
            <a:spLocks noGrp="1"/>
          </p:cNvSpPr>
          <p:nvPr/>
        </p:nvSpPr>
        <p:spPr>
          <a:xfrm>
            <a:off x="5029200" y="6286500"/>
            <a:ext cx="76200" cy="685800"/>
          </a:xfrm>
          <a:prstGeom prst="rect">
            <a:avLst/>
          </a:prstGeom>
          <a:solidFill>
            <a:srgbClr val="0EA67A"/>
          </a:solidFill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F425B5-71D1-4528-9E40-3E2F0CD3721F}"/>
              </a:ext>
            </a:extLst>
          </p:cNvPr>
          <p:cNvSpPr>
            <a:spLocks noGrp="1"/>
          </p:cNvSpPr>
          <p:nvPr/>
        </p:nvSpPr>
        <p:spPr>
          <a:xfrm>
            <a:off x="5276850" y="6267450"/>
            <a:ext cx="800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EA67A"/>
                </a:solidFill>
              </a:defRPr>
            </a:pPr>
            <a:r>
              <a:rPr sz="1125" b="1">
                <a:solidFill>
                  <a:srgbClr val="0EA67A"/>
                </a:solidFill>
              </a:rPr>
              <a:t>06 GENERATE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938303-78A1-4DF3-85CF-2F99A6A8B34B}"/>
              </a:ext>
            </a:extLst>
          </p:cNvPr>
          <p:cNvSpPr>
            <a:spLocks noGrp="1"/>
          </p:cNvSpPr>
          <p:nvPr/>
        </p:nvSpPr>
        <p:spPr>
          <a:xfrm>
            <a:off x="5276850" y="6667500"/>
            <a:ext cx="3733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231F"/>
                </a:solidFill>
              </a:defRPr>
            </a:pPr>
            <a:r>
              <a:rPr sz="1875" b="1">
                <a:solidFill>
                  <a:srgbClr val="10231F"/>
                </a:solidFill>
              </a:rPr>
              <a:t>diverse OSM route candidates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4A53B-6B0D-4B78-9D02-FB5F23E67521}"/>
              </a:ext>
            </a:extLst>
          </p:cNvPr>
          <p:cNvSpPr>
            <a:spLocks noGrp="1"/>
          </p:cNvSpPr>
          <p:nvPr/>
        </p:nvSpPr>
        <p:spPr>
          <a:xfrm>
            <a:off x="9296400" y="6286500"/>
            <a:ext cx="76200" cy="685800"/>
          </a:xfrm>
          <a:prstGeom prst="rect">
            <a:avLst/>
          </a:prstGeom>
          <a:solidFill>
            <a:srgbClr val="F5B84C"/>
          </a:solidFill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CDF99C-F60A-4703-8588-52B05D5208CB}"/>
              </a:ext>
            </a:extLst>
          </p:cNvPr>
          <p:cNvSpPr>
            <a:spLocks noGrp="1"/>
          </p:cNvSpPr>
          <p:nvPr/>
        </p:nvSpPr>
        <p:spPr>
          <a:xfrm>
            <a:off x="9525000" y="6267450"/>
            <a:ext cx="514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5B84C"/>
                </a:solidFill>
              </a:defRPr>
            </a:pPr>
            <a:r>
              <a:rPr sz="1125" b="1">
                <a:solidFill>
                  <a:srgbClr val="F5B84C"/>
                </a:solidFill>
              </a:rPr>
              <a:t>07 RANK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E11345-6E00-4B5C-9860-2B37C1EEBC0B}"/>
              </a:ext>
            </a:extLst>
          </p:cNvPr>
          <p:cNvSpPr>
            <a:spLocks noGrp="1"/>
          </p:cNvSpPr>
          <p:nvPr/>
        </p:nvSpPr>
        <p:spPr>
          <a:xfrm>
            <a:off x="9525000" y="6667500"/>
            <a:ext cx="3733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231F"/>
                </a:solidFill>
              </a:defRPr>
            </a:pPr>
            <a:r>
              <a:rPr sz="1875" b="1">
                <a:solidFill>
                  <a:srgbClr val="10231F"/>
                </a:solidFill>
              </a:rPr>
              <a:t>profile, prompt, hybrid baselines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77D2DE-D118-4631-B28D-4E2C65C8A999}"/>
              </a:ext>
            </a:extLst>
          </p:cNvPr>
          <p:cNvSpPr>
            <a:spLocks noGrp="1"/>
          </p:cNvSpPr>
          <p:nvPr/>
        </p:nvSpPr>
        <p:spPr>
          <a:xfrm>
            <a:off x="13525500" y="6286500"/>
            <a:ext cx="76200" cy="685800"/>
          </a:xfrm>
          <a:prstGeom prst="rect">
            <a:avLst/>
          </a:prstGeom>
          <a:solidFill>
            <a:srgbClr val="FF7660"/>
          </a:solidFill>
        </p:spPr>
        <p:txBody>
          <a:bodyPr/>
          <a:lstStyle/>
          <a:p>
            <a:endParaRPr lang="en-C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CB6A77-CD96-46D5-9261-6F2418F82385}"/>
              </a:ext>
            </a:extLst>
          </p:cNvPr>
          <p:cNvSpPr>
            <a:spLocks noGrp="1"/>
          </p:cNvSpPr>
          <p:nvPr/>
        </p:nvSpPr>
        <p:spPr>
          <a:xfrm>
            <a:off x="13773150" y="6267450"/>
            <a:ext cx="781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7660"/>
                </a:solidFill>
              </a:defRPr>
            </a:pPr>
            <a:r>
              <a:rPr sz="1125" b="1">
                <a:solidFill>
                  <a:srgbClr val="FF7660"/>
                </a:solidFill>
              </a:rPr>
              <a:t>08 EVALUATE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61628C-5F74-4E51-82B5-BFF9F4F61929}"/>
              </a:ext>
            </a:extLst>
          </p:cNvPr>
          <p:cNvSpPr>
            <a:spLocks noGrp="1"/>
          </p:cNvSpPr>
          <p:nvPr/>
        </p:nvSpPr>
        <p:spPr>
          <a:xfrm>
            <a:off x="13773150" y="6604663"/>
            <a:ext cx="3733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231F"/>
                </a:solidFill>
              </a:defRPr>
            </a:pPr>
            <a:r>
              <a:rPr sz="1875" b="1" dirty="0">
                <a:solidFill>
                  <a:srgbClr val="10231F"/>
                </a:solidFill>
              </a:rPr>
              <a:t>reconstruction + ranking metrics</a:t>
            </a:r>
          </a:p>
        </p:txBody>
      </p:sp>
      <p:sp>
        <p:nvSpPr>
          <p:cNvPr id="29" name="footer">
            <a:extLst>
              <a:ext uri="{FF2B5EF4-FFF2-40B4-BE49-F238E27FC236}">
                <a16:creationId xmlns:a16="http://schemas.microsoft.com/office/drawing/2014/main" id="{7E35AC79-3164-46CA-B312-EB863E9B8275}"/>
              </a:ext>
            </a:extLst>
          </p:cNvPr>
          <p:cNvSpPr>
            <a:spLocks noGrp="1"/>
          </p:cNvSpPr>
          <p:nvPr/>
        </p:nvSpPr>
        <p:spPr>
          <a:xfrm>
            <a:off x="781050" y="9544050"/>
            <a:ext cx="167259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67A74"/>
                </a:solidFill>
              </a:defRPr>
            </a:pPr>
            <a:r>
              <a:rPr sz="975">
                <a:solidFill>
                  <a:srgbClr val="667A74"/>
                </a:solidFill>
              </a:rPr>
              <a:t>Files: app/routing.py, app/profile.py, app/ranking.py, app/main.py, scripts/evaluate_route_candidate_baselines.py.</a:t>
            </a:r>
          </a:p>
        </p:txBody>
      </p:sp>
    </p:spTree>
    <p:extLst>
      <p:ext uri="{BB962C8B-B14F-4D97-AF65-F5344CB8AC3E}">
        <p14:creationId xmlns:p14="http://schemas.microsoft.com/office/powerpoint/2010/main" val="38545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9FDB31D-D87B-495E-8555-C4C983CB30B6}"/>
              </a:ext>
            </a:extLst>
          </p:cNvPr>
          <p:cNvSpPr>
            <a:spLocks noGrp="1"/>
          </p:cNvSpPr>
          <p:nvPr/>
        </p:nvSpPr>
        <p:spPr>
          <a:xfrm>
            <a:off x="13648" y="0"/>
            <a:ext cx="18288000" cy="10287000"/>
          </a:xfrm>
          <a:prstGeom prst="rect">
            <a:avLst/>
          </a:prstGeom>
          <a:solidFill>
            <a:srgbClr val="0B1713"/>
          </a:solidFill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8A3CB9-A76D-42E1-A5EB-B81CEE907026}"/>
              </a:ext>
            </a:extLst>
          </p:cNvPr>
          <p:cNvSpPr>
            <a:spLocks noGrp="1"/>
          </p:cNvSpPr>
          <p:nvPr/>
        </p:nvSpPr>
        <p:spPr>
          <a:xfrm>
            <a:off x="876300" y="685800"/>
            <a:ext cx="1123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sz="1125" b="1">
                <a:solidFill>
                  <a:srgbClr val="48D597"/>
                </a:solidFill>
              </a:rPr>
              <a:t>GRAPHRAG ANGLE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086A0ED-14D7-49DF-933F-C46F36A447B7}"/>
              </a:ext>
            </a:extLst>
          </p:cNvPr>
          <p:cNvSpPr>
            <a:spLocks noGrp="1"/>
          </p:cNvSpPr>
          <p:nvPr/>
        </p:nvSpPr>
        <p:spPr>
          <a:xfrm>
            <a:off x="876300" y="1085850"/>
            <a:ext cx="7239000" cy="2057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The graph is the memory. The language layer is the interface.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D20C72-C30B-4682-B971-C31B63564662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70104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CFE3D8"/>
                </a:solidFill>
              </a:defRPr>
            </a:pPr>
            <a:r>
              <a:rPr sz="1950">
                <a:solidFill>
                  <a:srgbClr val="CFE3D8"/>
                </a:solidFill>
              </a:rPr>
              <a:t>Road type, park proximity, turns, crossings, tunnels, lighting, temporal context, and profile weights become retrievable evidence. The route summary is not magic; it is a readable projection of the feature graph.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BB123-77EB-4F29-9F8C-2AE9C682D0B4}"/>
              </a:ext>
            </a:extLst>
          </p:cNvPr>
          <p:cNvSpPr>
            <a:spLocks noGrp="1"/>
          </p:cNvSpPr>
          <p:nvPr/>
        </p:nvSpPr>
        <p:spPr>
          <a:xfrm>
            <a:off x="9829800" y="3352800"/>
            <a:ext cx="76200" cy="685800"/>
          </a:xfrm>
          <a:prstGeom prst="rect">
            <a:avLst/>
          </a:prstGeom>
          <a:solidFill>
            <a:srgbClr val="7EA6FF"/>
          </a:solidFill>
        </p:spPr>
        <p:txBody>
          <a:bodyPr/>
          <a:lstStyle/>
          <a:p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5038F1-A5D6-4D75-B2EE-3B1C4274299C}"/>
              </a:ext>
            </a:extLst>
          </p:cNvPr>
          <p:cNvSpPr>
            <a:spLocks noGrp="1"/>
          </p:cNvSpPr>
          <p:nvPr/>
        </p:nvSpPr>
        <p:spPr>
          <a:xfrm>
            <a:off x="10096500" y="3352800"/>
            <a:ext cx="857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7EA6FF"/>
                </a:solidFill>
              </a:defRPr>
            </a:pPr>
            <a:r>
              <a:rPr sz="1125" b="1">
                <a:solidFill>
                  <a:srgbClr val="7EA6FF"/>
                </a:solidFill>
              </a:rPr>
              <a:t>ROUTE NODES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94988B-0C1C-4299-A24A-45332FABFBE2}"/>
              </a:ext>
            </a:extLst>
          </p:cNvPr>
          <p:cNvSpPr>
            <a:spLocks noGrp="1"/>
          </p:cNvSpPr>
          <p:nvPr/>
        </p:nvSpPr>
        <p:spPr>
          <a:xfrm>
            <a:off x="10096500" y="3667125"/>
            <a:ext cx="7315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 dirty="0">
                <a:solidFill>
                  <a:srgbClr val="FFFFFF"/>
                </a:solidFill>
              </a:rPr>
              <a:t>candidate geometry + coordinates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CA1DDE-59CB-40C8-8DF8-A974643E45FE}"/>
              </a:ext>
            </a:extLst>
          </p:cNvPr>
          <p:cNvSpPr>
            <a:spLocks noGrp="1"/>
          </p:cNvSpPr>
          <p:nvPr/>
        </p:nvSpPr>
        <p:spPr>
          <a:xfrm>
            <a:off x="9829800" y="4267200"/>
            <a:ext cx="76200" cy="685800"/>
          </a:xfrm>
          <a:prstGeom prst="rect">
            <a:avLst/>
          </a:prstGeom>
          <a:solidFill>
            <a:srgbClr val="48D597"/>
          </a:solidFill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424FD-609B-468E-B3BF-E1714679F09F}"/>
              </a:ext>
            </a:extLst>
          </p:cNvPr>
          <p:cNvSpPr>
            <a:spLocks noGrp="1"/>
          </p:cNvSpPr>
          <p:nvPr/>
        </p:nvSpPr>
        <p:spPr>
          <a:xfrm>
            <a:off x="10096500" y="4267200"/>
            <a:ext cx="933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sz="1125" b="1">
                <a:solidFill>
                  <a:srgbClr val="48D597"/>
                </a:solidFill>
              </a:rPr>
              <a:t>FEATURE EDGES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79ECBA-737A-4698-AB75-9C1E3C08F587}"/>
              </a:ext>
            </a:extLst>
          </p:cNvPr>
          <p:cNvSpPr>
            <a:spLocks noGrp="1"/>
          </p:cNvSpPr>
          <p:nvPr/>
        </p:nvSpPr>
        <p:spPr>
          <a:xfrm>
            <a:off x="10096500" y="4667250"/>
            <a:ext cx="7315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OSM-derived attributes and tradeoffs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6E3F7-A31D-4895-A20D-3F5D50EB37A4}"/>
              </a:ext>
            </a:extLst>
          </p:cNvPr>
          <p:cNvSpPr>
            <a:spLocks noGrp="1"/>
          </p:cNvSpPr>
          <p:nvPr/>
        </p:nvSpPr>
        <p:spPr>
          <a:xfrm>
            <a:off x="9829800" y="5181600"/>
            <a:ext cx="76200" cy="685800"/>
          </a:xfrm>
          <a:prstGeom prst="rect">
            <a:avLst/>
          </a:prstGeom>
          <a:solidFill>
            <a:srgbClr val="F5B84C"/>
          </a:solidFill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2E4675-5ECC-4AAE-912A-1386E01F6D3C}"/>
              </a:ext>
            </a:extLst>
          </p:cNvPr>
          <p:cNvSpPr>
            <a:spLocks noGrp="1"/>
          </p:cNvSpPr>
          <p:nvPr/>
        </p:nvSpPr>
        <p:spPr>
          <a:xfrm>
            <a:off x="10096500" y="5181600"/>
            <a:ext cx="857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5B84C"/>
                </a:solidFill>
              </a:defRPr>
            </a:pPr>
            <a:r>
              <a:rPr sz="1125" b="1">
                <a:solidFill>
                  <a:srgbClr val="F5B84C"/>
                </a:solidFill>
              </a:rPr>
              <a:t>PROFILE STATE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8523D6-065E-46F3-BC0D-63022F6E9C90}"/>
              </a:ext>
            </a:extLst>
          </p:cNvPr>
          <p:cNvSpPr>
            <a:spLocks noGrp="1"/>
          </p:cNvSpPr>
          <p:nvPr/>
        </p:nvSpPr>
        <p:spPr>
          <a:xfrm>
            <a:off x="10096500" y="5581650"/>
            <a:ext cx="7315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dynamic preferences inferred from past signals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8F7D33-E591-4E99-996D-D9964E394BBF}"/>
              </a:ext>
            </a:extLst>
          </p:cNvPr>
          <p:cNvSpPr>
            <a:spLocks noGrp="1"/>
          </p:cNvSpPr>
          <p:nvPr/>
        </p:nvSpPr>
        <p:spPr>
          <a:xfrm>
            <a:off x="9829800" y="6096000"/>
            <a:ext cx="76200" cy="685800"/>
          </a:xfrm>
          <a:prstGeom prst="rect">
            <a:avLst/>
          </a:prstGeom>
          <a:solidFill>
            <a:srgbClr val="FF7660"/>
          </a:solidFill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43148B-CDC6-4B8E-8E05-72A4886FDFD8}"/>
              </a:ext>
            </a:extLst>
          </p:cNvPr>
          <p:cNvSpPr>
            <a:spLocks noGrp="1"/>
          </p:cNvSpPr>
          <p:nvPr/>
        </p:nvSpPr>
        <p:spPr>
          <a:xfrm>
            <a:off x="10096500" y="6096000"/>
            <a:ext cx="95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7660"/>
                </a:solidFill>
              </a:defRPr>
            </a:pPr>
            <a:r>
              <a:rPr sz="1125" b="1">
                <a:solidFill>
                  <a:srgbClr val="FF7660"/>
                </a:solidFill>
              </a:rPr>
              <a:t>EVIDENCE TRAIL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15B14F-F191-47EE-9236-C9C8D8859326}"/>
              </a:ext>
            </a:extLst>
          </p:cNvPr>
          <p:cNvSpPr>
            <a:spLocks noGrp="1"/>
          </p:cNvSpPr>
          <p:nvPr/>
        </p:nvSpPr>
        <p:spPr>
          <a:xfrm>
            <a:off x="10096500" y="6438900"/>
            <a:ext cx="7315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 dirty="0">
                <a:solidFill>
                  <a:srgbClr val="FFFFFF"/>
                </a:solidFill>
              </a:rPr>
              <a:t>diagnostics attached to every confident answer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98A6063E-D5C9-4EB3-85C2-AA22FA928856}"/>
              </a:ext>
            </a:extLst>
          </p:cNvPr>
          <p:cNvSpPr>
            <a:spLocks noGrp="1"/>
          </p:cNvSpPr>
          <p:nvPr/>
        </p:nvSpPr>
        <p:spPr>
          <a:xfrm>
            <a:off x="876300" y="9448800"/>
            <a:ext cx="83629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87A79A"/>
                </a:solidFill>
              </a:defRPr>
            </a:pPr>
            <a:r>
              <a:rPr sz="975">
                <a:solidFill>
                  <a:srgbClr val="87A79A"/>
                </a:solidFill>
              </a:rPr>
              <a:t>Production implication: an agent can cite why a route was ranked, not merely generate a plausible route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795644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D59DF0F-60FD-44D4-B3B2-E9D64AE088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7F2"/>
          </a:solidFill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DDB381-3742-437A-A1C6-3FCC7463C27B}"/>
              </a:ext>
            </a:extLst>
          </p:cNvPr>
          <p:cNvSpPr>
            <a:spLocks noGrp="1"/>
          </p:cNvSpPr>
          <p:nvPr/>
        </p:nvSpPr>
        <p:spPr>
          <a:xfrm>
            <a:off x="800099" y="590550"/>
            <a:ext cx="960461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EA67A"/>
                </a:solidFill>
              </a:defRPr>
            </a:pPr>
            <a:r>
              <a:rPr sz="1125" b="1" dirty="0">
                <a:solidFill>
                  <a:srgbClr val="0EA67A"/>
                </a:solidFill>
              </a:rPr>
              <a:t>EVALUATION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77A818EE-2EBA-42E3-8649-1B5E04403029}"/>
              </a:ext>
            </a:extLst>
          </p:cNvPr>
          <p:cNvSpPr>
            <a:spLocks noGrp="1"/>
          </p:cNvSpPr>
          <p:nvPr/>
        </p:nvSpPr>
        <p:spPr>
          <a:xfrm>
            <a:off x="800100" y="1066800"/>
            <a:ext cx="125349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0231F"/>
                </a:solidFill>
              </a:defRPr>
            </a:pPr>
            <a:r>
              <a:rPr sz="3900" b="1">
                <a:solidFill>
                  <a:srgbClr val="10231F"/>
                </a:solidFill>
              </a:rPr>
              <a:t>Profile ranking gives the best graded signal, but the sample is still small.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360630-192F-4C3B-A249-1F24FE439A89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66294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0EA67A"/>
                </a:solidFill>
              </a:defRPr>
            </a:pPr>
            <a:r>
              <a:rPr sz="5400" b="1">
                <a:solidFill>
                  <a:srgbClr val="0EA67A"/>
                </a:solidFill>
              </a:rPr>
              <a:t>0.727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22E87-60E1-49FC-972A-A9E5B7B023BF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6629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Profile NDCG@3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89AD1-BE62-4FFD-8003-C18FF3B18200}"/>
              </a:ext>
            </a:extLst>
          </p:cNvPr>
          <p:cNvSpPr>
            <a:spLocks noGrp="1"/>
          </p:cNvSpPr>
          <p:nvPr/>
        </p:nvSpPr>
        <p:spPr>
          <a:xfrm>
            <a:off x="800100" y="3867150"/>
            <a:ext cx="66294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48D597"/>
                </a:solidFill>
              </a:defRPr>
            </a:pPr>
            <a:r>
              <a:rPr sz="5400" b="1">
                <a:solidFill>
                  <a:srgbClr val="48D597"/>
                </a:solidFill>
              </a:rPr>
              <a:t>0.630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6878D-D82A-4157-BBEF-7220EEA3CE41}"/>
              </a:ext>
            </a:extLst>
          </p:cNvPr>
          <p:cNvSpPr>
            <a:spLocks noGrp="1"/>
          </p:cNvSpPr>
          <p:nvPr/>
        </p:nvSpPr>
        <p:spPr>
          <a:xfrm>
            <a:off x="800100" y="4743450"/>
            <a:ext cx="6629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Profile path F1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AB5EA9-94AB-4A14-9796-670C6DFAEE5E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66294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5B84C"/>
                </a:solidFill>
              </a:defRPr>
            </a:pPr>
            <a:r>
              <a:rPr sz="5400" b="1">
                <a:solidFill>
                  <a:srgbClr val="F5B84C"/>
                </a:solidFill>
              </a:rPr>
              <a:t>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95491-FA1B-4B2F-8192-57B23BBDE227}"/>
              </a:ext>
            </a:extLst>
          </p:cNvPr>
          <p:cNvSpPr>
            <a:spLocks noGrp="1"/>
          </p:cNvSpPr>
          <p:nvPr/>
        </p:nvSpPr>
        <p:spPr>
          <a:xfrm>
            <a:off x="800100" y="6057900"/>
            <a:ext cx="6629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87A79A"/>
                </a:solidFill>
              </a:defRPr>
            </a:pPr>
            <a:r>
              <a:rPr sz="1275">
                <a:solidFill>
                  <a:srgbClr val="87A79A"/>
                </a:solidFill>
              </a:rPr>
              <a:t>successful route-candidate queries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CC210C-A49E-4C47-8D11-30223FE91B1D}"/>
              </a:ext>
            </a:extLst>
          </p:cNvPr>
          <p:cNvSpPr>
            <a:spLocks noGrp="1"/>
          </p:cNvSpPr>
          <p:nvPr/>
        </p:nvSpPr>
        <p:spPr>
          <a:xfrm>
            <a:off x="800100" y="6515100"/>
            <a:ext cx="60960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526D64"/>
                </a:solidFill>
              </a:defRPr>
            </a:pPr>
            <a:r>
              <a:rPr sz="1725">
                <a:solidFill>
                  <a:srgbClr val="526D64"/>
                </a:solidFill>
              </a:rPr>
              <a:t>Useful signal, modest claim: profile-aware ranking improves several metrics over shortest distance, but this is not an external benchmark victory.</a:t>
            </a:r>
          </a:p>
        </p:txBody>
      </p:sp>
      <p:graphicFrame>
        <p:nvGraphicFramePr>
          <p:cNvPr id="11" name="ndcg-chart"/>
          <p:cNvGraphicFramePr/>
          <p:nvPr/>
        </p:nvGraphicFramePr>
        <p:xfrm>
          <a:off x="7945564" y="2541270"/>
          <a:ext cx="9542336" cy="6720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footer">
            <a:extLst>
              <a:ext uri="{FF2B5EF4-FFF2-40B4-BE49-F238E27FC236}">
                <a16:creationId xmlns:a16="http://schemas.microsoft.com/office/drawing/2014/main" id="{5C1ADA07-D133-41D7-93AD-47607C288404}"/>
              </a:ext>
            </a:extLst>
          </p:cNvPr>
          <p:cNvSpPr>
            <a:spLocks noGrp="1"/>
          </p:cNvSpPr>
          <p:nvPr/>
        </p:nvSpPr>
        <p:spPr>
          <a:xfrm>
            <a:off x="800100" y="9544050"/>
            <a:ext cx="66294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87A79A"/>
                </a:solidFill>
              </a:defRPr>
            </a:pPr>
            <a:r>
              <a:rPr sz="975">
                <a:solidFill>
                  <a:srgbClr val="87A79A"/>
                </a:solidFill>
              </a:rPr>
              <a:t>Source: data/route_candidate_baseline_comparison.json. Prompt text is synthetic and treated as an ablation.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90AB21-F298-41DB-86B9-053909522A7F}"/>
              </a:ext>
            </a:extLst>
          </p:cNvPr>
          <p:cNvSpPr>
            <a:spLocks noGrp="1"/>
          </p:cNvSpPr>
          <p:nvPr/>
        </p:nvSpPr>
        <p:spPr>
          <a:xfrm>
            <a:off x="7943850" y="9544050"/>
            <a:ext cx="9525" cy="9525"/>
          </a:xfrm>
          <a:prstGeom prst="rect">
            <a:avLst/>
          </a:prstGeom>
          <a:noFill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1728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EB89E3B-3D4E-4BFF-8DC2-8BFD43EE3E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110E"/>
          </a:solidFill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ECCAFB-8D4A-45CD-8D2B-7C8C1A18AA05}"/>
              </a:ext>
            </a:extLst>
          </p:cNvPr>
          <p:cNvSpPr>
            <a:spLocks noGrp="1"/>
          </p:cNvSpPr>
          <p:nvPr/>
        </p:nvSpPr>
        <p:spPr>
          <a:xfrm>
            <a:off x="876300" y="685800"/>
            <a:ext cx="1162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sz="1125" b="1">
                <a:solidFill>
                  <a:srgbClr val="48D597"/>
                </a:solidFill>
              </a:rPr>
              <a:t>PRODUCTION PLAN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ECA6E7D-8566-4372-95D8-DC07451D0932}"/>
              </a:ext>
            </a:extLst>
          </p:cNvPr>
          <p:cNvSpPr>
            <a:spLocks noGrp="1"/>
          </p:cNvSpPr>
          <p:nvPr/>
        </p:nvSpPr>
        <p:spPr>
          <a:xfrm>
            <a:off x="876300" y="1104900"/>
            <a:ext cx="68199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Ship the decision engine, then earn the right to learn.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189E90-0F4E-4199-9FCB-F9832FC6C1A3}"/>
              </a:ext>
            </a:extLst>
          </p:cNvPr>
          <p:cNvSpPr>
            <a:spLocks noGrp="1"/>
          </p:cNvSpPr>
          <p:nvPr/>
        </p:nvSpPr>
        <p:spPr>
          <a:xfrm>
            <a:off x="876300" y="3419475"/>
            <a:ext cx="6743700" cy="895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CFE3D8"/>
                </a:solidFill>
              </a:defRPr>
            </a:pPr>
            <a:r>
              <a:rPr sz="1950" dirty="0">
                <a:solidFill>
                  <a:srgbClr val="CFE3D8"/>
                </a:solidFill>
              </a:rPr>
              <a:t>Before adding learned rankers, harden graph caching, </a:t>
            </a:r>
            <a:r>
              <a:rPr sz="1950" dirty="0" err="1">
                <a:solidFill>
                  <a:srgbClr val="CFE3D8"/>
                </a:solidFill>
              </a:rPr>
              <a:t>replayable</a:t>
            </a:r>
            <a:r>
              <a:rPr sz="1950" dirty="0">
                <a:solidFill>
                  <a:srgbClr val="CFE3D8"/>
                </a:solidFill>
              </a:rPr>
              <a:t> evaluation, route-diagnostic logging, and clean feedback collection.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C36DD-907E-476D-8C1A-7CAB9953C441}"/>
              </a:ext>
            </a:extLst>
          </p:cNvPr>
          <p:cNvSpPr>
            <a:spLocks noGrp="1"/>
          </p:cNvSpPr>
          <p:nvPr/>
        </p:nvSpPr>
        <p:spPr>
          <a:xfrm>
            <a:off x="8801100" y="3314700"/>
            <a:ext cx="76200" cy="685800"/>
          </a:xfrm>
          <a:prstGeom prst="rect">
            <a:avLst/>
          </a:prstGeom>
          <a:solidFill>
            <a:srgbClr val="48D597"/>
          </a:solidFill>
        </p:spPr>
        <p:txBody>
          <a:bodyPr/>
          <a:lstStyle/>
          <a:p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26C6CF-EA60-469B-AD6F-171170BB150D}"/>
              </a:ext>
            </a:extLst>
          </p:cNvPr>
          <p:cNvSpPr>
            <a:spLocks noGrp="1"/>
          </p:cNvSpPr>
          <p:nvPr/>
        </p:nvSpPr>
        <p:spPr>
          <a:xfrm>
            <a:off x="9067800" y="3333750"/>
            <a:ext cx="400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sz="1125" b="1">
                <a:solidFill>
                  <a:srgbClr val="48D597"/>
                </a:solidFill>
              </a:rPr>
              <a:t>CACHE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501BE0-1922-4588-987A-544334099E86}"/>
              </a:ext>
            </a:extLst>
          </p:cNvPr>
          <p:cNvSpPr>
            <a:spLocks noGrp="1"/>
          </p:cNvSpPr>
          <p:nvPr/>
        </p:nvSpPr>
        <p:spPr>
          <a:xfrm>
            <a:off x="9067800" y="3714750"/>
            <a:ext cx="834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precompute OSM graphs for property areas and common bounding boxes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57E6C2-DDBE-4C56-A61F-3A96051A5FD1}"/>
              </a:ext>
            </a:extLst>
          </p:cNvPr>
          <p:cNvSpPr>
            <a:spLocks noGrp="1"/>
          </p:cNvSpPr>
          <p:nvPr/>
        </p:nvSpPr>
        <p:spPr>
          <a:xfrm>
            <a:off x="8801100" y="4267200"/>
            <a:ext cx="76200" cy="685800"/>
          </a:xfrm>
          <a:prstGeom prst="rect">
            <a:avLst/>
          </a:prstGeom>
          <a:solidFill>
            <a:srgbClr val="7EA6FF"/>
          </a:solidFill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8FF5A9-B07C-4E4E-86E0-3CDE0AAFEBDB}"/>
              </a:ext>
            </a:extLst>
          </p:cNvPr>
          <p:cNvSpPr>
            <a:spLocks noGrp="1"/>
          </p:cNvSpPr>
          <p:nvPr/>
        </p:nvSpPr>
        <p:spPr>
          <a:xfrm>
            <a:off x="9067800" y="4267200"/>
            <a:ext cx="552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7EA6FF"/>
                </a:solidFill>
              </a:defRPr>
            </a:pPr>
            <a:r>
              <a:rPr sz="1125" b="1">
                <a:solidFill>
                  <a:srgbClr val="7EA6FF"/>
                </a:solidFill>
              </a:rPr>
              <a:t>OBSERVE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5B666C-070F-493E-90E2-7B6B41CEB4D5}"/>
              </a:ext>
            </a:extLst>
          </p:cNvPr>
          <p:cNvSpPr>
            <a:spLocks noGrp="1"/>
          </p:cNvSpPr>
          <p:nvPr/>
        </p:nvSpPr>
        <p:spPr>
          <a:xfrm>
            <a:off x="9067800" y="4648200"/>
            <a:ext cx="834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log ranking inputs, top-k deltas, feature weights, and diagnostics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AFCF7E-6912-4710-89DC-0EABBE9CD5FB}"/>
              </a:ext>
            </a:extLst>
          </p:cNvPr>
          <p:cNvSpPr>
            <a:spLocks noGrp="1"/>
          </p:cNvSpPr>
          <p:nvPr/>
        </p:nvSpPr>
        <p:spPr>
          <a:xfrm>
            <a:off x="8801100" y="5181600"/>
            <a:ext cx="76200" cy="685800"/>
          </a:xfrm>
          <a:prstGeom prst="rect">
            <a:avLst/>
          </a:prstGeom>
          <a:solidFill>
            <a:srgbClr val="F5B84C"/>
          </a:solidFill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CB52B4-9AA3-4B4E-A13E-317765EE8B7D}"/>
              </a:ext>
            </a:extLst>
          </p:cNvPr>
          <p:cNvSpPr>
            <a:spLocks noGrp="1"/>
          </p:cNvSpPr>
          <p:nvPr/>
        </p:nvSpPr>
        <p:spPr>
          <a:xfrm>
            <a:off x="9067800" y="5200650"/>
            <a:ext cx="514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5B84C"/>
                </a:solidFill>
              </a:defRPr>
            </a:pPr>
            <a:r>
              <a:rPr sz="1125" b="1">
                <a:solidFill>
                  <a:srgbClr val="F5B84C"/>
                </a:solidFill>
              </a:rPr>
              <a:t>GOVERN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5F9A7A-4EED-4C07-89CF-17F1115C2AE7}"/>
              </a:ext>
            </a:extLst>
          </p:cNvPr>
          <p:cNvSpPr>
            <a:spLocks noGrp="1"/>
          </p:cNvSpPr>
          <p:nvPr/>
        </p:nvSpPr>
        <p:spPr>
          <a:xfrm>
            <a:off x="9067800" y="5581650"/>
            <a:ext cx="834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separate pseudo-history, synthetic preferences, and clean labels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4255C4-1ED0-4B39-A8F6-D62249B92F11}"/>
              </a:ext>
            </a:extLst>
          </p:cNvPr>
          <p:cNvSpPr>
            <a:spLocks noGrp="1"/>
          </p:cNvSpPr>
          <p:nvPr/>
        </p:nvSpPr>
        <p:spPr>
          <a:xfrm>
            <a:off x="8801100" y="6134100"/>
            <a:ext cx="76200" cy="685800"/>
          </a:xfrm>
          <a:prstGeom prst="rect">
            <a:avLst/>
          </a:prstGeom>
          <a:solidFill>
            <a:srgbClr val="FF7660"/>
          </a:solidFill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6D268D-AA42-4528-BFC2-F2FD6BA7383F}"/>
              </a:ext>
            </a:extLst>
          </p:cNvPr>
          <p:cNvSpPr>
            <a:spLocks noGrp="1"/>
          </p:cNvSpPr>
          <p:nvPr/>
        </p:nvSpPr>
        <p:spPr>
          <a:xfrm>
            <a:off x="9067800" y="6134100"/>
            <a:ext cx="381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7660"/>
                </a:solidFill>
              </a:defRPr>
            </a:pPr>
            <a:r>
              <a:rPr sz="1125" b="1">
                <a:solidFill>
                  <a:srgbClr val="FF7660"/>
                </a:solidFill>
              </a:rPr>
              <a:t>LEARN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97D7CC-E948-4B6C-9401-8D72D988BCA3}"/>
              </a:ext>
            </a:extLst>
          </p:cNvPr>
          <p:cNvSpPr>
            <a:spLocks noGrp="1"/>
          </p:cNvSpPr>
          <p:nvPr/>
        </p:nvSpPr>
        <p:spPr>
          <a:xfrm>
            <a:off x="9067800" y="6515100"/>
            <a:ext cx="834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introduce supervised rankers only after enough feedback exists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C30BD721-705C-4FD7-B266-91C7A5EC6902}"/>
              </a:ext>
            </a:extLst>
          </p:cNvPr>
          <p:cNvSpPr>
            <a:spLocks noGrp="1"/>
          </p:cNvSpPr>
          <p:nvPr/>
        </p:nvSpPr>
        <p:spPr>
          <a:xfrm>
            <a:off x="876300" y="9448800"/>
            <a:ext cx="7334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9AB9AC"/>
                </a:solidFill>
              </a:defRPr>
            </a:pPr>
            <a:r>
              <a:rPr sz="975">
                <a:solidFill>
                  <a:srgbClr val="9AB9AC"/>
                </a:solidFill>
              </a:rPr>
              <a:t>Tradeoff posture for interview: product-minded shipping with research-grade caveat discipline.</a:t>
            </a:r>
          </a:p>
        </p:txBody>
      </p:sp>
    </p:spTree>
    <p:extLst>
      <p:ext uri="{BB962C8B-B14F-4D97-AF65-F5344CB8AC3E}">
        <p14:creationId xmlns:p14="http://schemas.microsoft.com/office/powerpoint/2010/main" val="703828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0F025AD-6293-41BF-9ED1-6C761CDB72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231F"/>
          </a:solidFill>
        </p:spPr>
        <p:txBody>
          <a:bodyPr/>
          <a:lstStyle/>
          <a:p>
            <a:endParaRPr lang="en-C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D19481-8DD2-4A1E-A0A3-DFAC24266C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0231F">
              <a:alpha val="93333"/>
            </a:srgbClr>
          </a:solidFill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6D65B-8A75-457C-9252-E808A0017FA3}"/>
              </a:ext>
            </a:extLst>
          </p:cNvPr>
          <p:cNvSpPr>
            <a:spLocks noGrp="1"/>
          </p:cNvSpPr>
          <p:nvPr/>
        </p:nvSpPr>
        <p:spPr>
          <a:xfrm>
            <a:off x="895350" y="704850"/>
            <a:ext cx="1123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sz="1125" b="1">
                <a:solidFill>
                  <a:srgbClr val="48D597"/>
                </a:solidFill>
              </a:rPr>
              <a:t>CLOSING MESSAGE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AEC1899B-2421-4F5E-B06C-532CE7E732D3}"/>
              </a:ext>
            </a:extLst>
          </p:cNvPr>
          <p:cNvSpPr>
            <a:spLocks noGrp="1"/>
          </p:cNvSpPr>
          <p:nvPr/>
        </p:nvSpPr>
        <p:spPr>
          <a:xfrm>
            <a:off x="895350" y="1276350"/>
            <a:ext cx="7962900" cy="2209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I can build the AI platform layer between messy data and operational action.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F5814-4C3E-4C76-AD33-B24FFC4C883D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1809750" cy="66675"/>
          </a:xfrm>
          <a:prstGeom prst="rect">
            <a:avLst/>
          </a:prstGeom>
          <a:solidFill>
            <a:srgbClr val="48D597"/>
          </a:solidFill>
          <a:ln w="0">
            <a:solidFill>
              <a:srgbClr val="48D59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C2E6B6-F2A8-4C1D-973E-A0D8DB2F02E8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706755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CFE3D8"/>
                </a:solidFill>
              </a:defRPr>
            </a:pPr>
            <a:r>
              <a:rPr sz="2100">
                <a:solidFill>
                  <a:srgbClr val="CFE3D8"/>
                </a:solidFill>
              </a:rPr>
              <a:t>That is the pitch: not just a model, not just a map, but a governed decision system with an evidence trail.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D17891-A4BC-4E0E-8F23-25EADDA9837F}"/>
              </a:ext>
            </a:extLst>
          </p:cNvPr>
          <p:cNvSpPr>
            <a:spLocks noGrp="1"/>
          </p:cNvSpPr>
          <p:nvPr/>
        </p:nvSpPr>
        <p:spPr>
          <a:xfrm>
            <a:off x="9791700" y="3810000"/>
            <a:ext cx="76200" cy="685800"/>
          </a:xfrm>
          <a:prstGeom prst="rect">
            <a:avLst/>
          </a:prstGeom>
          <a:solidFill>
            <a:srgbClr val="48D597"/>
          </a:solidFill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272281-3121-41E2-A67C-28E47F06D379}"/>
              </a:ext>
            </a:extLst>
          </p:cNvPr>
          <p:cNvSpPr>
            <a:spLocks noGrp="1"/>
          </p:cNvSpPr>
          <p:nvPr/>
        </p:nvSpPr>
        <p:spPr>
          <a:xfrm>
            <a:off x="10058400" y="3790950"/>
            <a:ext cx="1029268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8D597"/>
                </a:solidFill>
              </a:defRPr>
            </a:pPr>
            <a:r>
              <a:rPr sz="1125" b="1" dirty="0">
                <a:solidFill>
                  <a:srgbClr val="48D597"/>
                </a:solidFill>
              </a:rPr>
              <a:t>END-TO-END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EEADAD-B2CF-420B-9D75-8A1BA27C7146}"/>
              </a:ext>
            </a:extLst>
          </p:cNvPr>
          <p:cNvSpPr>
            <a:spLocks noGrp="1"/>
          </p:cNvSpPr>
          <p:nvPr/>
        </p:nvSpPr>
        <p:spPr>
          <a:xfrm>
            <a:off x="10058400" y="4152900"/>
            <a:ext cx="7334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 dirty="0">
                <a:solidFill>
                  <a:srgbClr val="FFFFFF"/>
                </a:solidFill>
              </a:rPr>
              <a:t>data pipeline, API, ranker, evaluation, demo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7DCCB-CD62-4D27-BEE3-434825949DBA}"/>
              </a:ext>
            </a:extLst>
          </p:cNvPr>
          <p:cNvSpPr>
            <a:spLocks noGrp="1"/>
          </p:cNvSpPr>
          <p:nvPr/>
        </p:nvSpPr>
        <p:spPr>
          <a:xfrm>
            <a:off x="9791700" y="4724400"/>
            <a:ext cx="76200" cy="685800"/>
          </a:xfrm>
          <a:prstGeom prst="rect">
            <a:avLst/>
          </a:prstGeom>
          <a:solidFill>
            <a:srgbClr val="7EA6FF"/>
          </a:solidFill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0F6E5F-2B95-4C5C-8BC8-9E0EC6106E8A}"/>
              </a:ext>
            </a:extLst>
          </p:cNvPr>
          <p:cNvSpPr>
            <a:spLocks noGrp="1"/>
          </p:cNvSpPr>
          <p:nvPr/>
        </p:nvSpPr>
        <p:spPr>
          <a:xfrm>
            <a:off x="10058400" y="4724400"/>
            <a:ext cx="156153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7EA6FF"/>
                </a:solidFill>
              </a:defRPr>
            </a:pPr>
            <a:r>
              <a:rPr sz="1125" b="1" dirty="0">
                <a:solidFill>
                  <a:srgbClr val="7EA6FF"/>
                </a:solidFill>
              </a:rPr>
              <a:t>SYSTEMS JUDGMENT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C3D807-FD68-4D4E-AEEA-B0DB7BD4A3AC}"/>
              </a:ext>
            </a:extLst>
          </p:cNvPr>
          <p:cNvSpPr>
            <a:spLocks noGrp="1"/>
          </p:cNvSpPr>
          <p:nvPr/>
        </p:nvSpPr>
        <p:spPr>
          <a:xfrm>
            <a:off x="10058400" y="5124450"/>
            <a:ext cx="7334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latency, caching, observability, deployment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321038-861B-434E-9FAD-B05048D60480}"/>
              </a:ext>
            </a:extLst>
          </p:cNvPr>
          <p:cNvSpPr>
            <a:spLocks noGrp="1"/>
          </p:cNvSpPr>
          <p:nvPr/>
        </p:nvSpPr>
        <p:spPr>
          <a:xfrm>
            <a:off x="9791700" y="5676900"/>
            <a:ext cx="76200" cy="685800"/>
          </a:xfrm>
          <a:prstGeom prst="rect">
            <a:avLst/>
          </a:prstGeom>
          <a:solidFill>
            <a:srgbClr val="F5B84C"/>
          </a:solidFill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214EAF-7609-413F-9831-F6FEF6AFDB32}"/>
              </a:ext>
            </a:extLst>
          </p:cNvPr>
          <p:cNvSpPr>
            <a:spLocks noGrp="1"/>
          </p:cNvSpPr>
          <p:nvPr/>
        </p:nvSpPr>
        <p:spPr>
          <a:xfrm>
            <a:off x="10058400" y="5714999"/>
            <a:ext cx="1820838" cy="19050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5B84C"/>
                </a:solidFill>
              </a:defRPr>
            </a:pPr>
            <a:r>
              <a:rPr sz="1125" b="1" dirty="0">
                <a:solidFill>
                  <a:srgbClr val="F5B84C"/>
                </a:solidFill>
              </a:rPr>
              <a:t>PRODUCT TRANSLATION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4FBDF1-5AEB-45FA-8B19-E7078C1B727B}"/>
              </a:ext>
            </a:extLst>
          </p:cNvPr>
          <p:cNvSpPr>
            <a:spLocks noGrp="1"/>
          </p:cNvSpPr>
          <p:nvPr/>
        </p:nvSpPr>
        <p:spPr>
          <a:xfrm>
            <a:off x="10058400" y="6029325"/>
            <a:ext cx="7334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 dirty="0">
                <a:solidFill>
                  <a:srgbClr val="FFFFFF"/>
                </a:solidFill>
              </a:rPr>
              <a:t>investment, operations, resident experience, knowledge workflows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140DB2A8-C3CF-4F1C-877F-84812464DCFD}"/>
              </a:ext>
            </a:extLst>
          </p:cNvPr>
          <p:cNvSpPr>
            <a:spLocks noGrp="1"/>
          </p:cNvSpPr>
          <p:nvPr/>
        </p:nvSpPr>
        <p:spPr>
          <a:xfrm>
            <a:off x="895350" y="9429750"/>
            <a:ext cx="8248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9AB9AC"/>
                </a:solidFill>
              </a:defRPr>
            </a:pPr>
            <a:r>
              <a:rPr sz="975">
                <a:solidFill>
                  <a:srgbClr val="9AB9AC"/>
                </a:solidFill>
              </a:rPr>
              <a:t>Suggested walkthrough: problem -&gt; product surface -&gt; architecture -&gt; GraphRAG memory -&gt; evaluation -&gt; production roadmap.</a:t>
            </a:r>
          </a:p>
        </p:txBody>
      </p:sp>
    </p:spTree>
    <p:extLst>
      <p:ext uri="{BB962C8B-B14F-4D97-AF65-F5344CB8AC3E}">
        <p14:creationId xmlns:p14="http://schemas.microsoft.com/office/powerpoint/2010/main" val="386104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829</Words>
  <Application>Microsoft Office PowerPoint</Application>
  <DocSecurity>0</DocSecurity>
  <PresentationFormat>Custom</PresentationFormat>
  <Paragraphs>109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Omar Shamsul  Haque</cp:lastModifiedBy>
  <cp:revision>5</cp:revision>
  <dcterms:created xsi:type="dcterms:W3CDTF">2026-05-13T08:17:19Z</dcterms:created>
  <dcterms:modified xsi:type="dcterms:W3CDTF">2026-05-13T08:29:44Z</dcterms:modified>
</cp:coreProperties>
</file>