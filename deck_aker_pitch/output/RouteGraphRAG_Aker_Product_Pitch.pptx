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312996c9ea4f3e" /><Relationship Type="http://schemas.openxmlformats.org/officeDocument/2006/relationships/extended-properties" Target="/docProps/app.xml" Id="Rc5bb09401af941c3" /><Relationship Type="http://schemas.openxmlformats.org/officeDocument/2006/relationships/officeDocument" Target="/ppt/presentation.xml" Id="Rbf21d3ec4b3a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d2f628073f4293"/>
  </p:sldMasterIdLst>
  <p:notesMasterIdLst>
    <p:notesMasterId xmlns:r="http://schemas.openxmlformats.org/officeDocument/2006/relationships" r:id="R2ac14dd2a5ea4970"/>
  </p:notesMasterIdLst>
  <p:sldIdLst>
    <p:sldId xmlns:r="http://schemas.openxmlformats.org/officeDocument/2006/relationships" id="256" r:id="Rd4f40c55a2b64f84"/>
    <p:sldId xmlns:r="http://schemas.openxmlformats.org/officeDocument/2006/relationships" id="257" r:id="Rec50984fc1dd41e8"/>
    <p:sldId xmlns:r="http://schemas.openxmlformats.org/officeDocument/2006/relationships" id="258" r:id="Rcfb67512f8ca49b9"/>
    <p:sldId xmlns:r="http://schemas.openxmlformats.org/officeDocument/2006/relationships" id="259" r:id="R660b52c5806242f9"/>
    <p:sldId xmlns:r="http://schemas.openxmlformats.org/officeDocument/2006/relationships" id="260" r:id="R6e98e82fdc17445f"/>
    <p:sldId xmlns:r="http://schemas.openxmlformats.org/officeDocument/2006/relationships" id="261" r:id="Rd734dfe36a8d4f52"/>
    <p:sldId xmlns:r="http://schemas.openxmlformats.org/officeDocument/2006/relationships" id="262" r:id="R8c9837d36c9f4181"/>
    <p:sldId xmlns:r="http://schemas.openxmlformats.org/officeDocument/2006/relationships" id="263" r:id="R3ebc428b45ea44d3"/>
    <p:sldId xmlns:r="http://schemas.openxmlformats.org/officeDocument/2006/relationships" id="264" r:id="R3d2ca1e5eedd4e53"/>
    <p:sldId xmlns:r="http://schemas.openxmlformats.org/officeDocument/2006/relationships" id="265" r:id="Ra8e60b26c9ad44b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2f628073f4293" /><Relationship Type="http://schemas.openxmlformats.org/officeDocument/2006/relationships/theme" Target="/ppt/theme/theme1.xml" Id="R66429235fe984fb4" /><Relationship Type="http://schemas.openxmlformats.org/officeDocument/2006/relationships/notesMaster" Target="/ppt/notesMasters/notesMaster1.xml" Id="R2ac14dd2a5ea4970" /><Relationship Type="http://schemas.openxmlformats.org/officeDocument/2006/relationships/presProps" Target="/ppt/presProps.xml" Id="R27745eaf364a4dbe" /><Relationship Type="http://schemas.openxmlformats.org/officeDocument/2006/relationships/viewProps" Target="/ppt/viewProps.xml" Id="R6ecfab0918634aa1" /><Relationship Type="http://schemas.openxmlformats.org/officeDocument/2006/relationships/tableStyles" Target="/ppt/tableStyles.xml" Id="R69d143ebcec740f9" /><Relationship Type="http://schemas.openxmlformats.org/officeDocument/2006/relationships/slide" Target="/ppt/slides/slide1.xml" Id="Rd4f40c55a2b64f84" /><Relationship Type="http://schemas.openxmlformats.org/officeDocument/2006/relationships/slide" Target="/ppt/slides/slide2.xml" Id="Rec50984fc1dd41e8" /><Relationship Type="http://schemas.openxmlformats.org/officeDocument/2006/relationships/slide" Target="/ppt/slides/slide3.xml" Id="Rcfb67512f8ca49b9" /><Relationship Type="http://schemas.openxmlformats.org/officeDocument/2006/relationships/slide" Target="/ppt/slides/slide4.xml" Id="R660b52c5806242f9" /><Relationship Type="http://schemas.openxmlformats.org/officeDocument/2006/relationships/slide" Target="/ppt/slides/slide5.xml" Id="R6e98e82fdc17445f" /><Relationship Type="http://schemas.openxmlformats.org/officeDocument/2006/relationships/slide" Target="/ppt/slides/slide6.xml" Id="Rd734dfe36a8d4f52" /><Relationship Type="http://schemas.openxmlformats.org/officeDocument/2006/relationships/slide" Target="/ppt/slides/slide7.xml" Id="R8c9837d36c9f4181" /><Relationship Type="http://schemas.openxmlformats.org/officeDocument/2006/relationships/slide" Target="/ppt/slides/slide8.xml" Id="R3ebc428b45ea44d3" /><Relationship Type="http://schemas.openxmlformats.org/officeDocument/2006/relationships/slide" Target="/ppt/slides/slide9.xml" Id="R3d2ca1e5eedd4e53" /><Relationship Type="http://schemas.openxmlformats.org/officeDocument/2006/relationships/slide" Target="/ppt/slides/slide10.xml" Id="Ra8e60b26c9ad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bf4149e942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6860afc334924" /><Relationship Type="http://schemas.openxmlformats.org/officeDocument/2006/relationships/notesMaster" Target="/ppt/notesMasters/notesMaster1.xml" Id="R5bc6f498ae4b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1a24febe64102" /><Relationship Type="http://schemas.openxmlformats.org/officeDocument/2006/relationships/notesMaster" Target="/ppt/notesMasters/notesMaster1.xml" Id="R77e88f845e8a42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88f0cce6164666" /><Relationship Type="http://schemas.openxmlformats.org/officeDocument/2006/relationships/notesMaster" Target="/ppt/notesMasters/notesMaster1.xml" Id="R78d4cec4ea8e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0477e51194ccb" /><Relationship Type="http://schemas.openxmlformats.org/officeDocument/2006/relationships/notesMaster" Target="/ppt/notesMasters/notesMaster1.xml" Id="R41a2b05892ff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82a03844846ab" /><Relationship Type="http://schemas.openxmlformats.org/officeDocument/2006/relationships/notesMaster" Target="/ppt/notesMasters/notesMaster1.xml" Id="R32269a288c3248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5bf41259ae4a69" /><Relationship Type="http://schemas.openxmlformats.org/officeDocument/2006/relationships/notesMaster" Target="/ppt/notesMasters/notesMaster1.xml" Id="R756dda3813ab46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51fab02f64975" /><Relationship Type="http://schemas.openxmlformats.org/officeDocument/2006/relationships/notesMaster" Target="/ppt/notesMasters/notesMaster1.xml" Id="R4af8b9f9c3e8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d0797a82024543" /><Relationship Type="http://schemas.openxmlformats.org/officeDocument/2006/relationships/notesMaster" Target="/ppt/notesMasters/notesMaster1.xml" Id="R65f8aed4ddf4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f9574e72db426b" /><Relationship Type="http://schemas.openxmlformats.org/officeDocument/2006/relationships/notesMaster" Target="/ppt/notesMasters/notesMaster1.xml" Id="Red6d34e2d9f142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9d3f60ca1a4a42" /><Relationship Type="http://schemas.openxmlformats.org/officeDocument/2006/relationships/notesMaster" Target="/ppt/notesMasters/notesMaster1.xml" Id="R2920b28b9584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9c4ad29c348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c7a116c2e54b5b" /><Relationship Type="http://schemas.openxmlformats.org/officeDocument/2006/relationships/slideLayout" Target="/ppt/slideLayouts/slideLayout2.xml" Id="R15b27cdbc4ef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b27cdbc4ef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2b13018a214aee" /><Relationship Type="http://schemas.openxmlformats.org/officeDocument/2006/relationships/image" Target="/ppt/media/image.png" Id="R376ba7bfb53d4277" /><Relationship Type="http://schemas.openxmlformats.org/officeDocument/2006/relationships/notesSlide" Target="/ppt/notesSlides/notesSlide1.xml" Id="R7d1c33ec7f754d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cf49f508864f41" /><Relationship Type="http://schemas.openxmlformats.org/officeDocument/2006/relationships/notesSlide" Target="/ppt/notesSlides/notesSlide2.xml" Id="Re4b81941f60647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b80c1ee634a77" /><Relationship Type="http://schemas.openxmlformats.org/officeDocument/2006/relationships/notesSlide" Target="/ppt/notesSlides/notesSlide3.xml" Id="Raa13551de7ce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6d6a101f8449a" /><Relationship Type="http://schemas.openxmlformats.org/officeDocument/2006/relationships/image" Target="/ppt/media/image2.png" Id="Rf4cf98ad311c442b" /><Relationship Type="http://schemas.openxmlformats.org/officeDocument/2006/relationships/notesSlide" Target="/ppt/notesSlides/notesSlide4.xml" Id="R6452981bcf75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3a19bb6c84e6d" /><Relationship Type="http://schemas.openxmlformats.org/officeDocument/2006/relationships/notesSlide" Target="/ppt/notesSlides/notesSlide5.xml" Id="R3eb748f902804d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3a834cd9a44887" /><Relationship Type="http://schemas.openxmlformats.org/officeDocument/2006/relationships/notesSlide" Target="/ppt/notesSlides/notesSlide6.xml" Id="R6c3b10cc2ef44a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182352449f4570" /><Relationship Type="http://schemas.openxmlformats.org/officeDocument/2006/relationships/chart" Target="/ppt/slides/charts/chart1.xml" Id="R91aa37943292471a" /><Relationship Type="http://schemas.openxmlformats.org/officeDocument/2006/relationships/notesSlide" Target="/ppt/notesSlides/notesSlide7.xml" Id="Re3621b8675284b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ebe4b70af4c90" /><Relationship Type="http://schemas.openxmlformats.org/officeDocument/2006/relationships/notesSlide" Target="/ppt/notesSlides/notesSlide8.xml" Id="R3f36cb1d5449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36742609f47b6" /><Relationship Type="http://schemas.openxmlformats.org/officeDocument/2006/relationships/notesSlide" Target="/ppt/notesSlides/notesSlide9.xml" Id="Rf74af75e2e3b43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d702e611224f19" /><Relationship Type="http://schemas.openxmlformats.org/officeDocument/2006/relationships/notesSlide" Target="/ppt/notesSlides/notesSlide10.xml" Id="Rb4b3f453509d47f6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NDCG@3 by method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NDCG@3</c:v>
          </c:tx>
          <c:cat>
            <c:strLit>
              <c:ptCount val="5"/>
              <c:pt idx="0">
                <c:v>Random</c:v>
              </c:pt>
              <c:pt idx="1">
                <c:v>Shortest</c:v>
              </c:pt>
              <c:pt idx="2">
                <c:v>Profile</c:v>
              </c:pt>
              <c:pt idx="3">
                <c:v>Prompt</c:v>
              </c:pt>
              <c:pt idx="4">
                <c:v>Hybrid</c:v>
              </c:pt>
            </c:strLit>
          </c:cat>
          <c:val>
            <c:numLit>
              <c:formatCode/>
              <c:ptCount val="5"/>
              <c:pt idx="0">
                <c:v>0.668</c:v>
              </c:pt>
              <c:pt idx="1">
                <c:v>0.69</c:v>
              </c:pt>
              <c:pt idx="2">
                <c:v>0.727</c:v>
              </c:pt>
              <c:pt idx="3">
                <c:v>0.673</c:v>
              </c:pt>
              <c:pt idx="4">
                <c:v>0.672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E60D69D-1916-409C-9D33-AE19C7B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</p:spPr>
      </p:sp>
      <p:pic>
        <p:nvPicPr>
          <p:cNvPr id="2" name="route-fiel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ba7bfb53d4277"/>
          <a:srcRect xmlns:a="http://schemas.openxmlformats.org/drawingml/2006/main" l="0" t="1786" r="0" b="1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cover-scrim">
            <a:extLst xmlns:a="http://schemas.openxmlformats.org/drawingml/2006/main">
              <a:ext uri="{FF2B5EF4-FFF2-40B4-BE49-F238E27FC236}">
                <a16:creationId xmlns:a16="http://schemas.microsoft.com/office/drawing/2014/main" id="{91640629-5D52-4009-A22D-EF228C7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>
              <a:alpha val="80000"/>
            </a:srgbClr>
          </a:solidFill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B8A96F-0CC6-4F35-AB1E-5D8BE857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314325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Route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GraphRAG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3C2AD7-FB55-4B21-B640-9D69DDF1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6591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FE7DC"/>
                </a:solidFill>
              </a:defRPr>
            </a:pPr>
            <a:r>
              <a:rPr sz="2100">
                <a:solidFill>
                  <a:srgbClr val="CFE7DC"/>
                </a:solidFill>
              </a:rPr>
              <a:t>Preference-aware route ranking from noisy geospatial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EBCBF-5EF8-4277-8256-8ACB908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7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D515D549-00CF-4225-8F40-9C6380A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83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7B5AA"/>
                </a:solidFill>
              </a:defRPr>
            </a:pPr>
            <a:r>
              <a:rPr sz="1800">
                <a:solidFill>
                  <a:srgbClr val="97B5AA"/>
                </a:solidFill>
              </a:rPr>
              <a:t>Technical deep dive for Aker AI Platform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681B5-C1C1-4587-A14A-BBE56AC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62000"/>
            <a:ext cx="5029200" cy="861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9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AAA45FAD-86D9-46A0-B21C-4495D991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15450"/>
            <a:ext cx="824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BD6CA"/>
                </a:solidFill>
              </a:defRPr>
            </a:pPr>
            <a:r>
              <a:rPr sz="1575">
                <a:solidFill>
                  <a:srgbClr val="BBD6CA"/>
                </a:solidFill>
              </a:rPr>
              <a:t>Built around FastAPI, OSMnx, dynamic profiles, SBERT ranking, and explicit reconstruction diagnostics.</a:t>
            </a:r>
          </a:p>
        </p:txBody>
      </p:sp>
    </p:spTree>
    <p:extLst>
      <p:ext uri="{BB962C8B-B14F-4D97-AF65-F5344CB8AC3E}">
        <p14:creationId xmlns:p14="http://schemas.microsoft.com/office/powerpoint/2010/main" val="16275859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5FC0D59-DAC1-40B2-A32D-E896D19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D93C7-EC7C-4F55-880A-F8E9980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064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Aker's platform thesis is exactly this problem class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331D60-3FB4-4E7C-9B54-E2915CD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877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Turn messy operational data into internal tools, knowledge, and agents that drive real decisions.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9F4B0B-0552-4C81-8BAA-A0C3780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C8BE8594-6359-435B-AA07-0A817A8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752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18A"/>
                </a:solidFill>
              </a:defRPr>
            </a:pPr>
            <a:r>
              <a:rPr sz="900">
                <a:solidFill>
                  <a:srgbClr val="78918A"/>
                </a:solidFill>
              </a:rPr>
              <a:t>Source: Aker AI Platform public site and LinkedIn hiring post, accessed May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B4E1E-FE07-4071-95E8-69E43DD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09600"/>
            <a:ext cx="8458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896D5-6509-4690-B13B-356B1150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The product pitch</a:t>
            </a:r>
          </a:p>
        </p:txBody>
      </p:sp>
      <p:sp>
        <p:nvSpPr>
          <p:cNvPr id="8" name="pitch-copy">
            <a:extLst xmlns:a="http://schemas.openxmlformats.org/drawingml/2006/main">
              <a:ext uri="{FF2B5EF4-FFF2-40B4-BE49-F238E27FC236}">
                <a16:creationId xmlns:a16="http://schemas.microsoft.com/office/drawing/2014/main" id="{97B556C3-B601-4618-AB42-D687D07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76200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1F"/>
                </a:solidFill>
              </a:defRPr>
            </a:pPr>
            <a:r>
              <a:rPr sz="2625" b="1">
                <a:solidFill>
                  <a:srgbClr val="10231F"/>
                </a:solidFill>
              </a:rPr>
              <a:t>RouteGraphRAG is a pattern for Aker's internal AI platform: ingest imperfect operational traces, build an explainable representation, rank options, and show the uncertainty before anyone trusts the output.</a:t>
            </a:r>
          </a:p>
        </p:txBody>
      </p:sp>
      <p:sp>
        <p:nvSpPr>
          <p:cNvPr id="9" name="node-INVEST">
            <a:extLst xmlns:a="http://schemas.openxmlformats.org/drawingml/2006/main">
              <a:ext uri="{FF2B5EF4-FFF2-40B4-BE49-F238E27FC236}">
                <a16:creationId xmlns:a16="http://schemas.microsoft.com/office/drawing/2014/main" id="{19CA6D8F-F42A-4AA2-877E-80C030CA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3457575"/>
            <a:ext cx="4210526" cy="2864168"/>
          </a:xfrm>
          <a:prstGeom xmlns:a="http://schemas.openxmlformats.org/drawingml/2006/main" prst="roundRect">
            <a:avLst>
              <a:gd name="adj" fmla="val 2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0" name="label-invest">
            <a:extLst xmlns:a="http://schemas.openxmlformats.org/drawingml/2006/main">
              <a:ext uri="{FF2B5EF4-FFF2-40B4-BE49-F238E27FC236}">
                <a16:creationId xmlns:a16="http://schemas.microsoft.com/office/drawing/2014/main" id="{E7748201-FAC2-4EF1-9631-D5FB426D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INVEST</a:t>
            </a:r>
          </a:p>
        </p:txBody>
      </p:sp>
      <p:sp>
        <p:nvSpPr>
          <p:cNvPr id="11" name="node-copy-INVEST">
            <a:extLst xmlns:a="http://schemas.openxmlformats.org/drawingml/2006/main">
              <a:ext uri="{FF2B5EF4-FFF2-40B4-BE49-F238E27FC236}">
                <a16:creationId xmlns:a16="http://schemas.microsoft.com/office/drawing/2014/main" id="{3F2C7F6F-8A53-4924-835D-9451E5E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62400"/>
            <a:ext cx="375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Site context, trade areas, walkability, asset diligence</a:t>
            </a:r>
          </a:p>
        </p:txBody>
      </p:sp>
      <p:sp>
        <p:nvSpPr>
          <p:cNvPr id="12" name="node-OPERATE">
            <a:extLst xmlns:a="http://schemas.openxmlformats.org/drawingml/2006/main">
              <a:ext uri="{FF2B5EF4-FFF2-40B4-BE49-F238E27FC236}">
                <a16:creationId xmlns:a16="http://schemas.microsoft.com/office/drawing/2014/main" id="{4B3CFBB3-8AA5-4D03-B0C5-E36D8C3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324" y="3457575"/>
            <a:ext cx="4210526" cy="2864168"/>
          </a:xfrm>
          <a:prstGeom xmlns:a="http://schemas.openxmlformats.org/drawingml/2006/main" prst="roundRect">
            <a:avLst>
              <a:gd name="adj" fmla="val 2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3" name="label-operate">
            <a:extLst xmlns:a="http://schemas.openxmlformats.org/drawingml/2006/main">
              <a:ext uri="{FF2B5EF4-FFF2-40B4-BE49-F238E27FC236}">
                <a16:creationId xmlns:a16="http://schemas.microsoft.com/office/drawing/2014/main" id="{C14AA535-66DE-4BB2-8937-A525EB01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67665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OPERATE</a:t>
            </a:r>
          </a:p>
        </p:txBody>
      </p:sp>
      <p:sp>
        <p:nvSpPr>
          <p:cNvPr id="14" name="node-copy-OPERATE">
            <a:extLst xmlns:a="http://schemas.openxmlformats.org/drawingml/2006/main">
              <a:ext uri="{FF2B5EF4-FFF2-40B4-BE49-F238E27FC236}">
                <a16:creationId xmlns:a16="http://schemas.microsoft.com/office/drawing/2014/main" id="{7F11BCD8-12A9-4FD9-A2EF-9E77DC47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962400"/>
            <a:ext cx="375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Field movement patterns, service routing, inspection planning</a:t>
            </a:r>
          </a:p>
        </p:txBody>
      </p:sp>
      <p:sp>
        <p:nvSpPr>
          <p:cNvPr id="15" name="node-SERVE">
            <a:extLst xmlns:a="http://schemas.openxmlformats.org/drawingml/2006/main">
              <a:ext uri="{FF2B5EF4-FFF2-40B4-BE49-F238E27FC236}">
                <a16:creationId xmlns:a16="http://schemas.microsoft.com/office/drawing/2014/main" id="{B0629F3E-4E5F-4D0A-BFF5-7472C86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6321743"/>
            <a:ext cx="4210526" cy="2864168"/>
          </a:xfrm>
          <a:prstGeom xmlns:a="http://schemas.openxmlformats.org/drawingml/2006/main" prst="roundRect">
            <a:avLst>
              <a:gd name="adj" fmla="val 2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6" name="label-serve">
            <a:extLst xmlns:a="http://schemas.openxmlformats.org/drawingml/2006/main">
              <a:ext uri="{FF2B5EF4-FFF2-40B4-BE49-F238E27FC236}">
                <a16:creationId xmlns:a16="http://schemas.microsoft.com/office/drawing/2014/main" id="{9352BA74-AE93-4693-9D3F-2CCD4F5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53415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SERVE</a:t>
            </a:r>
          </a:p>
        </p:txBody>
      </p:sp>
      <p:sp>
        <p:nvSpPr>
          <p:cNvPr id="17" name="node-copy-SERVE">
            <a:extLst xmlns:a="http://schemas.openxmlformats.org/drawingml/2006/main">
              <a:ext uri="{FF2B5EF4-FFF2-40B4-BE49-F238E27FC236}">
                <a16:creationId xmlns:a16="http://schemas.microsoft.com/office/drawing/2014/main" id="{B0EB0956-95A8-4F3B-B6DC-9ED8AE4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19900"/>
            <a:ext cx="375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Resident-facing route guidance and neighborhood intelligence</a:t>
            </a:r>
          </a:p>
        </p:txBody>
      </p:sp>
      <p:sp>
        <p:nvSpPr>
          <p:cNvPr id="18" name="node-KNOW">
            <a:extLst xmlns:a="http://schemas.openxmlformats.org/drawingml/2006/main">
              <a:ext uri="{FF2B5EF4-FFF2-40B4-BE49-F238E27FC236}">
                <a16:creationId xmlns:a16="http://schemas.microsoft.com/office/drawing/2014/main" id="{990518D8-8E84-4179-B6AE-B1374C0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324" y="6321743"/>
            <a:ext cx="4210526" cy="2864168"/>
          </a:xfrm>
          <a:prstGeom xmlns:a="http://schemas.openxmlformats.org/drawingml/2006/main" prst="roundRect">
            <a:avLst>
              <a:gd name="adj" fmla="val 2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9" name="label-know">
            <a:extLst xmlns:a="http://schemas.openxmlformats.org/drawingml/2006/main">
              <a:ext uri="{FF2B5EF4-FFF2-40B4-BE49-F238E27FC236}">
                <a16:creationId xmlns:a16="http://schemas.microsoft.com/office/drawing/2014/main" id="{A003C0A0-B322-4AD7-B7F6-32D473FD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534150"/>
            <a:ext cx="3752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4A"/>
                </a:solidFill>
              </a:defRPr>
            </a:pPr>
            <a:r>
              <a:rPr sz="1275" b="1">
                <a:solidFill>
                  <a:srgbClr val="FF6B4A"/>
                </a:solidFill>
              </a:rPr>
              <a:t>KNOW</a:t>
            </a:r>
          </a:p>
        </p:txBody>
      </p:sp>
      <p:sp>
        <p:nvSpPr>
          <p:cNvPr id="20" name="node-copy-KNOW">
            <a:extLst xmlns:a="http://schemas.openxmlformats.org/drawingml/2006/main">
              <a:ext uri="{FF2B5EF4-FFF2-40B4-BE49-F238E27FC236}">
                <a16:creationId xmlns:a16="http://schemas.microsoft.com/office/drawing/2014/main" id="{871ACD2B-24A6-4013-9D27-2EDEE866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819900"/>
            <a:ext cx="375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A knowledge layer that explains why a route was ranked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CD71906B-9B8A-4D62-85AD-905210B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7620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Aker framing: agents, tools, workflows, knowledge, and production AI systems for real estate operations.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39EA2-F319-4D20-98A1-1639717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9525000"/>
            <a:ext cx="8458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19110154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8A525F0-7930-49C2-8AB7-8815C209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F2D154-EF8B-4167-9A91-E733A6C3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1906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The product ranks routes the way a person actually asks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35855F4-9F66-4E13-9A4B-D75FBC7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34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A natural-language preference, a dynamic profile, and OSM features combine into explainable route candidates.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747EBA-89F2-4485-9F41-EF44AA15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E1873-166D-44F7-BFCE-1E986BF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01D4C-D0C3-403F-81CC-410FE31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9220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B9E2-9A2C-451A-96EC-4E4037A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683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Example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5D52-CA6C-418B-9331-7EA00D51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6841331" cy="1533525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0231F"/>
          </a:solidFill>
        </p:spPr>
      </p:sp>
      <p:sp>
        <p:nvSpPr>
          <p:cNvPr id="9" name="request-text">
            <a:extLst xmlns:a="http://schemas.openxmlformats.org/drawingml/2006/main">
              <a:ext uri="{FF2B5EF4-FFF2-40B4-BE49-F238E27FC236}">
                <a16:creationId xmlns:a16="http://schemas.microsoft.com/office/drawing/2014/main" id="{6BF4448D-5767-489C-B5C8-27AA1656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6267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Prefer quieter walking routes near parks and away from major roads.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FC3BD-6724-4D36-87A2-833E3A4B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6267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DCC6"/>
                </a:solidFill>
              </a:defRPr>
            </a:pPr>
            <a:r>
              <a:rPr sz="1275">
                <a:solidFill>
                  <a:srgbClr val="A7DCC6"/>
                </a:solidFill>
              </a:rPr>
              <a:t>origin + destination + timestamp + user_id + ranking_mode=hybrid</a:t>
            </a:r>
          </a:p>
        </p:txBody>
      </p:sp>
      <p:sp>
        <p:nvSpPr>
          <p:cNvPr id="11" name="metric-value-ranked candidates">
            <a:extLst xmlns:a="http://schemas.openxmlformats.org/drawingml/2006/main">
              <a:ext uri="{FF2B5EF4-FFF2-40B4-BE49-F238E27FC236}">
                <a16:creationId xmlns:a16="http://schemas.microsoft.com/office/drawing/2014/main" id="{E3E8FD4D-4A8A-45AF-8C8F-222712D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295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766E"/>
                </a:solidFill>
              </a:defRPr>
            </a:pPr>
            <a:r>
              <a:rPr sz="420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12" name="metric-label-ranked candidates">
            <a:extLst xmlns:a="http://schemas.openxmlformats.org/drawingml/2006/main">
              <a:ext uri="{FF2B5EF4-FFF2-40B4-BE49-F238E27FC236}">
                <a16:creationId xmlns:a16="http://schemas.microsoft.com/office/drawing/2014/main" id="{E634DBD6-55C4-41C0-A6F3-31ADD7A5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6A"/>
                </a:solidFill>
              </a:defRPr>
            </a:pPr>
            <a:r>
              <a:rPr sz="1350">
                <a:solidFill>
                  <a:srgbClr val="58706A"/>
                </a:solidFill>
              </a:rPr>
              <a:t>ranked candidates</a:t>
            </a:r>
          </a:p>
        </p:txBody>
      </p:sp>
      <p:sp>
        <p:nvSpPr>
          <p:cNvPr id="13" name="metric-value-ranking modes">
            <a:extLst xmlns:a="http://schemas.openxmlformats.org/drawingml/2006/main">
              <a:ext uri="{FF2B5EF4-FFF2-40B4-BE49-F238E27FC236}">
                <a16:creationId xmlns:a16="http://schemas.microsoft.com/office/drawing/2014/main" id="{52F4A07B-FA84-44FC-9B58-79951875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81600"/>
            <a:ext cx="3295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4" name="metric-label-ranking modes">
            <a:extLst xmlns:a="http://schemas.openxmlformats.org/drawingml/2006/main">
              <a:ext uri="{FF2B5EF4-FFF2-40B4-BE49-F238E27FC236}">
                <a16:creationId xmlns:a16="http://schemas.microsoft.com/office/drawing/2014/main" id="{A16E9796-E204-4990-933A-9F67A05D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4835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6A"/>
                </a:solidFill>
              </a:defRPr>
            </a:pPr>
            <a:r>
              <a:rPr sz="1350">
                <a:solidFill>
                  <a:srgbClr val="58706A"/>
                </a:solidFill>
              </a:rPr>
              <a:t>ranking modes</a:t>
            </a:r>
          </a:p>
        </p:txBody>
      </p:sp>
      <p:sp>
        <p:nvSpPr>
          <p:cNvPr id="15" name="node-INPUT">
            <a:extLst xmlns:a="http://schemas.openxmlformats.org/drawingml/2006/main">
              <a:ext uri="{FF2B5EF4-FFF2-40B4-BE49-F238E27FC236}">
                <a16:creationId xmlns:a16="http://schemas.microsoft.com/office/drawing/2014/main" id="{C5B679BC-0500-41BD-8BDD-4C6EC630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931" y="2918460"/>
            <a:ext cx="2678906" cy="62674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6" name="label-input">
            <a:extLst xmlns:a="http://schemas.openxmlformats.org/drawingml/2006/main">
              <a:ext uri="{FF2B5EF4-FFF2-40B4-BE49-F238E27FC236}">
                <a16:creationId xmlns:a16="http://schemas.microsoft.com/office/drawing/2014/main" id="{AEB1FDB6-53B9-44D7-825F-14FD3DE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22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INPUT</a:t>
            </a:r>
          </a:p>
        </p:txBody>
      </p:sp>
      <p:sp>
        <p:nvSpPr>
          <p:cNvPr id="17" name="node-copy-INPUT">
            <a:extLst xmlns:a="http://schemas.openxmlformats.org/drawingml/2006/main">
              <a:ext uri="{FF2B5EF4-FFF2-40B4-BE49-F238E27FC236}">
                <a16:creationId xmlns:a16="http://schemas.microsoft.com/office/drawing/2014/main" id="{977E906E-E1E0-48D2-9F2C-7FECB76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228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Preference text plus route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A8E06-F509-48E1-91EF-1C4A644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14650"/>
            <a:ext cx="419100" cy="626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3D08A"/>
                </a:solidFill>
              </a:defRPr>
            </a:pPr>
            <a:r>
              <a:rPr sz="345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19" name="node-RANK">
            <a:extLst xmlns:a="http://schemas.openxmlformats.org/drawingml/2006/main">
              <a:ext uri="{FF2B5EF4-FFF2-40B4-BE49-F238E27FC236}">
                <a16:creationId xmlns:a16="http://schemas.microsoft.com/office/drawing/2014/main" id="{C48A5C86-9701-45EA-8379-0C37850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438" y="2918460"/>
            <a:ext cx="2678906" cy="62674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0" name="label-rank">
            <a:extLst xmlns:a="http://schemas.openxmlformats.org/drawingml/2006/main">
              <a:ext uri="{FF2B5EF4-FFF2-40B4-BE49-F238E27FC236}">
                <a16:creationId xmlns:a16="http://schemas.microsoft.com/office/drawing/2014/main" id="{2AAA9218-072B-49E1-A292-9DA1DC8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124200"/>
            <a:ext cx="222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RANK</a:t>
            </a:r>
          </a:p>
        </p:txBody>
      </p:sp>
      <p:sp>
        <p:nvSpPr>
          <p:cNvPr id="21" name="node-copy-RANK">
            <a:extLst xmlns:a="http://schemas.openxmlformats.org/drawingml/2006/main">
              <a:ext uri="{FF2B5EF4-FFF2-40B4-BE49-F238E27FC236}">
                <a16:creationId xmlns:a16="http://schemas.microsoft.com/office/drawing/2014/main" id="{3DBC1463-FAEF-47B7-9746-8D7F9A05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409950"/>
            <a:ext cx="2228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Profile score + prompt/SBERT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82ECD-847D-45FA-A759-DF0289C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914650"/>
            <a:ext cx="419100" cy="626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3D08A"/>
                </a:solidFill>
              </a:defRPr>
            </a:pPr>
            <a:r>
              <a:rPr sz="345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23" name="node-EXPLAIN">
            <a:extLst xmlns:a="http://schemas.openxmlformats.org/drawingml/2006/main">
              <a:ext uri="{FF2B5EF4-FFF2-40B4-BE49-F238E27FC236}">
                <a16:creationId xmlns:a16="http://schemas.microsoft.com/office/drawing/2014/main" id="{1D0146B9-24B8-47EC-896E-A0D8558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944" y="2918460"/>
            <a:ext cx="2678906" cy="62674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4" name="label-explain">
            <a:extLst xmlns:a="http://schemas.openxmlformats.org/drawingml/2006/main">
              <a:ext uri="{FF2B5EF4-FFF2-40B4-BE49-F238E27FC236}">
                <a16:creationId xmlns:a16="http://schemas.microsoft.com/office/drawing/2014/main" id="{418DA7FA-F480-4D08-A18E-62A961A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3124200"/>
            <a:ext cx="222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EXPLAIN</a:t>
            </a:r>
          </a:p>
        </p:txBody>
      </p:sp>
      <p:sp>
        <p:nvSpPr>
          <p:cNvPr id="25" name="node-copy-EXPLAIN">
            <a:extLst xmlns:a="http://schemas.openxmlformats.org/drawingml/2006/main">
              <a:ext uri="{FF2B5EF4-FFF2-40B4-BE49-F238E27FC236}">
                <a16:creationId xmlns:a16="http://schemas.microsoft.com/office/drawing/2014/main" id="{24B6B893-D6B9-4212-815D-E966BE6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3409950"/>
            <a:ext cx="2228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Feature summary, scores, coordinates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F1D44F45-E8B6-491B-A741-95F583E6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6838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Backend endpoint: /rank-routes. Modes: prompt, profile, hybrid.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10AA8-7BA7-43CB-B65B-FCFEE03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525000"/>
            <a:ext cx="9220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1792244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24BBB44-1DA5-4CD0-9346-42DADD2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0"/>
          </a:solidFill>
        </p:spPr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8468E3CB-AE15-44B2-A2D3-D7EC5DC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60388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hard part is not drawing a route. It is deciding which route deserves rank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66159-9A70-4DD3-A6E0-2BA79A22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4" name="visual-copy">
            <a:extLst xmlns:a="http://schemas.openxmlformats.org/drawingml/2006/main">
              <a:ext uri="{FF2B5EF4-FFF2-40B4-BE49-F238E27FC236}">
                <a16:creationId xmlns:a16="http://schemas.microsoft.com/office/drawing/2014/main" id="{3995470E-C346-491E-AA6E-18A8732B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7721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8DED5"/>
                </a:solidFill>
              </a:defRPr>
            </a:pPr>
            <a:r>
              <a:rPr sz="1875">
                <a:solidFill>
                  <a:srgbClr val="C8DED5"/>
                </a:solidFill>
              </a:rPr>
              <a:t>This field view uses actual OSM pseudo-history records: raw public GPS samples are reconstructed onto OSM walking geometry, then converted into route features.</a:t>
            </a:r>
          </a:p>
        </p:txBody>
      </p:sp>
      <p:pic>
        <p:nvPicPr>
          <p:cNvPr id="5" name="route-field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f98ad311c442b"/>
          <a:stretch xmlns:a="http://schemas.openxmlformats.org/drawingml/2006/main"/>
        </p:blipFill>
        <p:spPr>
          <a:xfrm xmlns:a="http://schemas.openxmlformats.org/drawingml/2006/main">
            <a:off x="8165783" y="2185154"/>
            <a:ext cx="9398318" cy="5482352"/>
          </a:xfrm>
          <a:prstGeom xmlns:a="http://schemas.openxmlformats.org/drawingml/2006/main" prst="roundRect">
            <a:avLst>
              <a:gd name="adj" fmla="val 871"/>
            </a:avLst>
          </a:prstGeom>
        </p:spPr>
      </p:pic>
      <p:sp>
        <p:nvSpPr>
          <p:cNvPr id="6" name="visual-caveat">
            <a:extLst xmlns:a="http://schemas.openxmlformats.org/drawingml/2006/main">
              <a:ext uri="{FF2B5EF4-FFF2-40B4-BE49-F238E27FC236}">
                <a16:creationId xmlns:a16="http://schemas.microsoft.com/office/drawing/2014/main" id="{262A1FB3-B8A8-4599-B37F-5BFBF364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1B5A7"/>
                </a:solidFill>
              </a:defRPr>
            </a:pPr>
            <a:r>
              <a:rPr sz="1350">
                <a:solidFill>
                  <a:srgbClr val="91B5A7"/>
                </a:solidFill>
              </a:rPr>
              <a:t>Important wording: OSM-derived historical movement signals, not clean per-user history.</a:t>
            </a:r>
          </a:p>
        </p:txBody>
      </p:sp>
    </p:spTree>
    <p:extLst>
      <p:ext uri="{BB962C8B-B14F-4D97-AF65-F5344CB8AC3E}">
        <p14:creationId xmlns:p14="http://schemas.microsoft.com/office/powerpoint/2010/main" val="718744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FE9B46B-BB8A-40EF-B01E-C35EDF4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D58240-CB47-4940-A27E-645AB03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1410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System architecture: one shared route representation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083DBB-581C-410F-A550-AF23290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36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Every stage produces or consumes the same route feature object, which keeps ranking explainable and testable.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B723A2-829D-4055-B0F7-71E3EED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4B479-79CE-4BD5-AD24-B4A64A3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node-1. PROBE">
            <a:extLst xmlns:a="http://schemas.openxmlformats.org/drawingml/2006/main">
              <a:ext uri="{FF2B5EF4-FFF2-40B4-BE49-F238E27FC236}">
                <a16:creationId xmlns:a16="http://schemas.microsoft.com/office/drawing/2014/main" id="{7A623328-EC85-42A1-AD7A-6F00BF9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5560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7" name="label-1-probe">
            <a:extLst xmlns:a="http://schemas.openxmlformats.org/drawingml/2006/main">
              <a:ext uri="{FF2B5EF4-FFF2-40B4-BE49-F238E27FC236}">
                <a16:creationId xmlns:a16="http://schemas.microsoft.com/office/drawing/2014/main" id="{EE099870-5CA5-4D23-8CAB-5A587AEC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1. PROBE</a:t>
            </a:r>
          </a:p>
        </p:txBody>
      </p:sp>
      <p:sp>
        <p:nvSpPr>
          <p:cNvPr id="8" name="node-copy-1. PROBE">
            <a:extLst xmlns:a="http://schemas.openxmlformats.org/drawingml/2006/main">
              <a:ext uri="{FF2B5EF4-FFF2-40B4-BE49-F238E27FC236}">
                <a16:creationId xmlns:a16="http://schemas.microsoft.com/office/drawing/2014/main" id="{4A285BB8-13AC-4F1C-928F-0C50DF1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OSM public GPS trackpoints in target bounding 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29EF6-C1EE-4368-B0DD-9679AB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D08A"/>
                </a:solidFill>
              </a:defRPr>
            </a:pPr>
            <a:r>
              <a:rPr sz="240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10" name="node-2. SEGMENT">
            <a:extLst xmlns:a="http://schemas.openxmlformats.org/drawingml/2006/main">
              <a:ext uri="{FF2B5EF4-FFF2-40B4-BE49-F238E27FC236}">
                <a16:creationId xmlns:a16="http://schemas.microsoft.com/office/drawing/2014/main" id="{AA691031-C849-4FC5-88BD-F17B678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575560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1" name="label-2-segment">
            <a:extLst xmlns:a="http://schemas.openxmlformats.org/drawingml/2006/main">
              <a:ext uri="{FF2B5EF4-FFF2-40B4-BE49-F238E27FC236}">
                <a16:creationId xmlns:a16="http://schemas.microsoft.com/office/drawing/2014/main" id="{201A62C9-7185-4D06-A65C-6596CC7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2. SEGMENT</a:t>
            </a:r>
          </a:p>
        </p:txBody>
      </p:sp>
      <p:sp>
        <p:nvSpPr>
          <p:cNvPr id="12" name="node-copy-2. SEGMENT">
            <a:extLst xmlns:a="http://schemas.openxmlformats.org/drawingml/2006/main">
              <a:ext uri="{FF2B5EF4-FFF2-40B4-BE49-F238E27FC236}">
                <a16:creationId xmlns:a16="http://schemas.microsoft.com/office/drawing/2014/main" id="{B22A2520-834B-41E5-86DE-E2AB8E92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Split by time gaps, spatial jumps, useful movement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E7266-F8BC-4723-A15F-F23F151F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D08A"/>
                </a:solidFill>
              </a:defRPr>
            </a:pPr>
            <a:r>
              <a:rPr sz="240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14" name="node-3. MATCH">
            <a:extLst xmlns:a="http://schemas.openxmlformats.org/drawingml/2006/main">
              <a:ext uri="{FF2B5EF4-FFF2-40B4-BE49-F238E27FC236}">
                <a16:creationId xmlns:a16="http://schemas.microsoft.com/office/drawing/2014/main" id="{1CDE869E-B984-45C1-87D7-A8328CB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5560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5" name="label-3-match">
            <a:extLst xmlns:a="http://schemas.openxmlformats.org/drawingml/2006/main">
              <a:ext uri="{FF2B5EF4-FFF2-40B4-BE49-F238E27FC236}">
                <a16:creationId xmlns:a16="http://schemas.microsoft.com/office/drawing/2014/main" id="{68197841-8938-4B51-81D0-59AD2ED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3. MATCH</a:t>
            </a:r>
          </a:p>
        </p:txBody>
      </p:sp>
      <p:sp>
        <p:nvSpPr>
          <p:cNvPr id="16" name="node-copy-3. MATCH">
            <a:extLst xmlns:a="http://schemas.openxmlformats.org/drawingml/2006/main">
              <a:ext uri="{FF2B5EF4-FFF2-40B4-BE49-F238E27FC236}">
                <a16:creationId xmlns:a16="http://schemas.microsoft.com/office/drawing/2014/main" id="{99614E9A-592C-4712-A746-79ACE81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Nearest OSM nodes plus shortest-path stitching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1A8C7-7D8F-49BE-B780-01FE7316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717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D08A"/>
                </a:solidFill>
              </a:defRPr>
            </a:pPr>
            <a:r>
              <a:rPr sz="240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18" name="node-4. FEATURES">
            <a:extLst xmlns:a="http://schemas.openxmlformats.org/drawingml/2006/main">
              <a:ext uri="{FF2B5EF4-FFF2-40B4-BE49-F238E27FC236}">
                <a16:creationId xmlns:a16="http://schemas.microsoft.com/office/drawing/2014/main" id="{C241AF1D-C770-4B6E-9FCE-996E10E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313" y="2575560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9" name="label-4-features">
            <a:extLst xmlns:a="http://schemas.openxmlformats.org/drawingml/2006/main">
              <a:ext uri="{FF2B5EF4-FFF2-40B4-BE49-F238E27FC236}">
                <a16:creationId xmlns:a16="http://schemas.microsoft.com/office/drawing/2014/main" id="{480C5AB4-8C4C-404D-9558-F32929D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7813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4A"/>
                </a:solidFill>
              </a:defRPr>
            </a:pPr>
            <a:r>
              <a:rPr sz="1275" b="1">
                <a:solidFill>
                  <a:srgbClr val="FF6B4A"/>
                </a:solidFill>
              </a:rPr>
              <a:t>4. FEATURES</a:t>
            </a:r>
          </a:p>
        </p:txBody>
      </p:sp>
      <p:sp>
        <p:nvSpPr>
          <p:cNvPr id="20" name="node-copy-4. FEATURES">
            <a:extLst xmlns:a="http://schemas.openxmlformats.org/drawingml/2006/main">
              <a:ext uri="{FF2B5EF4-FFF2-40B4-BE49-F238E27FC236}">
                <a16:creationId xmlns:a16="http://schemas.microsoft.com/office/drawing/2014/main" id="{1054578B-286A-4DB1-8DC3-4B79F2F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0670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Distance, road mix, parks, turns, lighting, crossings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15C13-A5C4-4373-B122-1CABA6C6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39624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4CE3A-BC6B-428A-A54B-182900C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">
                <a:solidFill>
                  <a:srgbClr val="F7FAF6"/>
                </a:solidFill>
              </a:defRPr>
            </a:pPr>
            <a:r>
              <a:rPr sz="75">
                <a:solidFill>
                  <a:srgbClr val="F7FAF6"/>
                </a:solidFill>
              </a:rPr>
              <a:t> </a:t>
            </a:r>
          </a:p>
        </p:txBody>
      </p:sp>
      <p:sp>
        <p:nvSpPr>
          <p:cNvPr id="23" name="node-5. PROFILE">
            <a:extLst xmlns:a="http://schemas.openxmlformats.org/drawingml/2006/main">
              <a:ext uri="{FF2B5EF4-FFF2-40B4-BE49-F238E27FC236}">
                <a16:creationId xmlns:a16="http://schemas.microsoft.com/office/drawing/2014/main" id="{C6486523-4FC9-416D-ACE4-CB975BC1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5880735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4" name="label-5-profile">
            <a:extLst xmlns:a="http://schemas.openxmlformats.org/drawingml/2006/main">
              <a:ext uri="{FF2B5EF4-FFF2-40B4-BE49-F238E27FC236}">
                <a16:creationId xmlns:a16="http://schemas.microsoft.com/office/drawing/2014/main" id="{4EF52E0F-237F-4D40-8B16-539601C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0960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5. PROFILE</a:t>
            </a:r>
          </a:p>
        </p:txBody>
      </p:sp>
      <p:sp>
        <p:nvSpPr>
          <p:cNvPr id="25" name="node-copy-5. PROFILE">
            <a:extLst xmlns:a="http://schemas.openxmlformats.org/drawingml/2006/main">
              <a:ext uri="{FF2B5EF4-FFF2-40B4-BE49-F238E27FC236}">
                <a16:creationId xmlns:a16="http://schemas.microsoft.com/office/drawing/2014/main" id="{22191E77-AF33-4EAD-B955-6F58BDF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3817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Contextual weights from prior pseudo-history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62791-03C5-44DB-8CB8-8AFA110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864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D08A"/>
                </a:solidFill>
              </a:defRPr>
            </a:pPr>
            <a:r>
              <a:rPr sz="240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27" name="node-6. CANDIDATES">
            <a:extLst xmlns:a="http://schemas.openxmlformats.org/drawingml/2006/main">
              <a:ext uri="{FF2B5EF4-FFF2-40B4-BE49-F238E27FC236}">
                <a16:creationId xmlns:a16="http://schemas.microsoft.com/office/drawing/2014/main" id="{35D1881A-CC0E-4335-87E5-C8B06A2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80735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8" name="label-6-candidates">
            <a:extLst xmlns:a="http://schemas.openxmlformats.org/drawingml/2006/main">
              <a:ext uri="{FF2B5EF4-FFF2-40B4-BE49-F238E27FC236}">
                <a16:creationId xmlns:a16="http://schemas.microsoft.com/office/drawing/2014/main" id="{BB8B4BE0-2B16-4EBC-97AE-D1B0B44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960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6. CANDIDATES</a:t>
            </a:r>
          </a:p>
        </p:txBody>
      </p:sp>
      <p:sp>
        <p:nvSpPr>
          <p:cNvPr id="29" name="node-copy-6. CANDIDATES">
            <a:extLst xmlns:a="http://schemas.openxmlformats.org/drawingml/2006/main">
              <a:ext uri="{FF2B5EF4-FFF2-40B4-BE49-F238E27FC236}">
                <a16:creationId xmlns:a16="http://schemas.microsoft.com/office/drawing/2014/main" id="{301D2BEA-B749-4FF1-B436-55F1D880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Diverse OSM routes under length, scenic, safe, simple costs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36E01-4554-402D-A018-6D2FE08D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886450"/>
            <a:ext cx="285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3D08A"/>
                </a:solidFill>
              </a:defRPr>
            </a:pPr>
            <a:r>
              <a:rPr sz="2400" b="1">
                <a:solidFill>
                  <a:srgbClr val="43D08A"/>
                </a:solidFill>
              </a:rPr>
              <a:t>&gt;</a:t>
            </a:r>
          </a:p>
        </p:txBody>
      </p:sp>
      <p:sp>
        <p:nvSpPr>
          <p:cNvPr id="31" name="node-7. RANK">
            <a:extLst xmlns:a="http://schemas.openxmlformats.org/drawingml/2006/main">
              <a:ext uri="{FF2B5EF4-FFF2-40B4-BE49-F238E27FC236}">
                <a16:creationId xmlns:a16="http://schemas.microsoft.com/office/drawing/2014/main" id="{C999CEAA-C8BD-4ABD-A579-6F3B9CD3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313" y="5880735"/>
            <a:ext cx="3976688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32" name="label-7-rank">
            <a:extLst xmlns:a="http://schemas.openxmlformats.org/drawingml/2006/main">
              <a:ext uri="{FF2B5EF4-FFF2-40B4-BE49-F238E27FC236}">
                <a16:creationId xmlns:a16="http://schemas.microsoft.com/office/drawing/2014/main" id="{A78D5210-EFEE-42ED-AC84-A0AE39B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0960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7. RANK</a:t>
            </a:r>
          </a:p>
        </p:txBody>
      </p:sp>
      <p:sp>
        <p:nvSpPr>
          <p:cNvPr id="33" name="node-copy-7. RANK">
            <a:extLst xmlns:a="http://schemas.openxmlformats.org/drawingml/2006/main">
              <a:ext uri="{FF2B5EF4-FFF2-40B4-BE49-F238E27FC236}">
                <a16:creationId xmlns:a16="http://schemas.microsoft.com/office/drawing/2014/main" id="{9940D8DE-AD49-4D8C-92E1-6B6257F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381750"/>
            <a:ext cx="352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Random, shortest, profile, prompt/SBERT, hybrid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F851379A-52C2-46E2-B3AF-CD165112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440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Key design choice: keep model-facing text and numerical feature scoring traceable to the same OSM-derived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33854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FD678E6-B6F7-4066-8475-2D4ECDB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2CA7AC-8289-4967-A8CA-C33E08E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1658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The GraphRAG idea is a routing memory, not a chatbot wrapper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DC0B97-0382-4A68-BAD5-1D367AF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7600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Route facts become inspectable nodes, weights, summaries, and retrieval context.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F50F266-3EEE-4163-B98C-CE3256B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472B9-416B-4F8E-BEA7-ADD167E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E0721-B816-4BC5-A1F7-AEB51CEB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9600"/>
            <a:ext cx="7696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859FC-3C44-4FFB-A2FE-23BACEB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9A60B-ECBF-403F-A3FE-9E8CE44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84772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1F"/>
                </a:solidFill>
              </a:defRPr>
            </a:pPr>
            <a:r>
              <a:rPr sz="2550" b="1">
                <a:solidFill>
                  <a:srgbClr val="10231F"/>
                </a:solidFill>
              </a:rPr>
              <a:t>Route candidates are ranked by a structured feature graph: road-type mix, park proximity, lighting, crossings, tunnels, turns, temporal context, and profile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F6214-31E2-4CD5-9AD5-76208B66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477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706A"/>
                </a:solidFill>
              </a:defRPr>
            </a:pPr>
            <a:r>
              <a:rPr sz="1725">
                <a:solidFill>
                  <a:srgbClr val="58706A"/>
                </a:solidFill>
              </a:rPr>
              <a:t>The LLM/SBERT layer only sees route summaries derived from the same features, so natural language preferences remain auditable.</a:t>
            </a:r>
          </a:p>
        </p:txBody>
      </p:sp>
      <p:sp>
        <p:nvSpPr>
          <p:cNvPr id="10" name="node-ROUTE">
            <a:extLst xmlns:a="http://schemas.openxmlformats.org/drawingml/2006/main">
              <a:ext uri="{FF2B5EF4-FFF2-40B4-BE49-F238E27FC236}">
                <a16:creationId xmlns:a16="http://schemas.microsoft.com/office/drawing/2014/main" id="{D12EC6E0-80B5-40BB-A751-A11C4491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60" y="286131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1" name="label-route">
            <a:extLst xmlns:a="http://schemas.openxmlformats.org/drawingml/2006/main">
              <a:ext uri="{FF2B5EF4-FFF2-40B4-BE49-F238E27FC236}">
                <a16:creationId xmlns:a16="http://schemas.microsoft.com/office/drawing/2014/main" id="{71AB2855-AA63-47F6-8736-372B378E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670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ROUTE</a:t>
            </a:r>
          </a:p>
        </p:txBody>
      </p:sp>
      <p:sp>
        <p:nvSpPr>
          <p:cNvPr id="12" name="node-copy-ROUTE">
            <a:extLst xmlns:a="http://schemas.openxmlformats.org/drawingml/2006/main">
              <a:ext uri="{FF2B5EF4-FFF2-40B4-BE49-F238E27FC236}">
                <a16:creationId xmlns:a16="http://schemas.microsoft.com/office/drawing/2014/main" id="{52801185-7D74-4E4E-8969-8E8DA89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5280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candidate geometry + coordinates</a:t>
            </a:r>
          </a:p>
        </p:txBody>
      </p:sp>
      <p:sp>
        <p:nvSpPr>
          <p:cNvPr id="13" name="node-CONTEXT">
            <a:extLst xmlns:a="http://schemas.openxmlformats.org/drawingml/2006/main">
              <a:ext uri="{FF2B5EF4-FFF2-40B4-BE49-F238E27FC236}">
                <a16:creationId xmlns:a16="http://schemas.microsoft.com/office/drawing/2014/main" id="{BA91E0B1-6237-40E6-9589-DF01541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230" y="286131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4" name="label-context">
            <a:extLst xmlns:a="http://schemas.openxmlformats.org/drawingml/2006/main">
              <a:ext uri="{FF2B5EF4-FFF2-40B4-BE49-F238E27FC236}">
                <a16:creationId xmlns:a16="http://schemas.microsoft.com/office/drawing/2014/main" id="{840E04A3-B80F-4C26-8454-A9C6312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0670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CONTEXT</a:t>
            </a:r>
          </a:p>
        </p:txBody>
      </p:sp>
      <p:sp>
        <p:nvSpPr>
          <p:cNvPr id="15" name="node-copy-CONTEXT">
            <a:extLst xmlns:a="http://schemas.openxmlformats.org/drawingml/2006/main">
              <a:ext uri="{FF2B5EF4-FFF2-40B4-BE49-F238E27FC236}">
                <a16:creationId xmlns:a16="http://schemas.microsoft.com/office/drawing/2014/main" id="{A2CACADC-5A1C-44B8-93BC-5CCDC724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352800"/>
            <a:ext cx="3371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weekday, time bucket, season, rush hour</a:t>
            </a:r>
          </a:p>
        </p:txBody>
      </p:sp>
      <p:sp>
        <p:nvSpPr>
          <p:cNvPr id="16" name="node-FEATURES">
            <a:extLst xmlns:a="http://schemas.openxmlformats.org/drawingml/2006/main">
              <a:ext uri="{FF2B5EF4-FFF2-40B4-BE49-F238E27FC236}">
                <a16:creationId xmlns:a16="http://schemas.microsoft.com/office/drawing/2014/main" id="{A33B261E-B945-4543-AE36-76E9459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60" y="498856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7" name="label-features">
            <a:extLst xmlns:a="http://schemas.openxmlformats.org/drawingml/2006/main">
              <a:ext uri="{FF2B5EF4-FFF2-40B4-BE49-F238E27FC236}">
                <a16:creationId xmlns:a16="http://schemas.microsoft.com/office/drawing/2014/main" id="{31C3F3AE-C6DD-45FA-82F3-A02F4AD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006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FEATURES</a:t>
            </a:r>
          </a:p>
        </p:txBody>
      </p:sp>
      <p:sp>
        <p:nvSpPr>
          <p:cNvPr id="18" name="node-copy-FEATURES">
            <a:extLst xmlns:a="http://schemas.openxmlformats.org/drawingml/2006/main">
              <a:ext uri="{FF2B5EF4-FFF2-40B4-BE49-F238E27FC236}">
                <a16:creationId xmlns:a16="http://schemas.microsoft.com/office/drawing/2014/main" id="{F9A4E7F2-B778-4721-A798-602FC7A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8640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interpretable OSM-derived attributes</a:t>
            </a:r>
          </a:p>
        </p:txBody>
      </p:sp>
      <p:sp>
        <p:nvSpPr>
          <p:cNvPr id="19" name="node-PROFILE">
            <a:extLst xmlns:a="http://schemas.openxmlformats.org/drawingml/2006/main">
              <a:ext uri="{FF2B5EF4-FFF2-40B4-BE49-F238E27FC236}">
                <a16:creationId xmlns:a16="http://schemas.microsoft.com/office/drawing/2014/main" id="{0E477ED9-A0D6-489F-A766-A8A7BB6A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230" y="498856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0" name="label-profile">
            <a:extLst xmlns:a="http://schemas.openxmlformats.org/drawingml/2006/main">
              <a:ext uri="{FF2B5EF4-FFF2-40B4-BE49-F238E27FC236}">
                <a16:creationId xmlns:a16="http://schemas.microsoft.com/office/drawing/2014/main" id="{CC285B95-E986-4A3A-8B46-67BC04D3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2006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4A"/>
                </a:solidFill>
              </a:defRPr>
            </a:pPr>
            <a:r>
              <a:rPr sz="1275" b="1">
                <a:solidFill>
                  <a:srgbClr val="FF6B4A"/>
                </a:solidFill>
              </a:rPr>
              <a:t>PROFILE</a:t>
            </a:r>
          </a:p>
        </p:txBody>
      </p:sp>
      <p:sp>
        <p:nvSpPr>
          <p:cNvPr id="21" name="node-copy-PROFILE">
            <a:extLst xmlns:a="http://schemas.openxmlformats.org/drawingml/2006/main">
              <a:ext uri="{FF2B5EF4-FFF2-40B4-BE49-F238E27FC236}">
                <a16:creationId xmlns:a16="http://schemas.microsoft.com/office/drawing/2014/main" id="{19501A11-26E7-4952-B0C4-7F70FBE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486400"/>
            <a:ext cx="3371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dynamic weights from historical signals</a:t>
            </a:r>
          </a:p>
        </p:txBody>
      </p:sp>
      <p:sp>
        <p:nvSpPr>
          <p:cNvPr id="22" name="node-TEXT">
            <a:extLst xmlns:a="http://schemas.openxmlformats.org/drawingml/2006/main">
              <a:ext uri="{FF2B5EF4-FFF2-40B4-BE49-F238E27FC236}">
                <a16:creationId xmlns:a16="http://schemas.microsoft.com/office/drawing/2014/main" id="{67DC35DF-D856-4CF4-A453-D039F05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60" y="711581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3" name="label-text">
            <a:extLst xmlns:a="http://schemas.openxmlformats.org/drawingml/2006/main">
              <a:ext uri="{FF2B5EF4-FFF2-40B4-BE49-F238E27FC236}">
                <a16:creationId xmlns:a16="http://schemas.microsoft.com/office/drawing/2014/main" id="{160D695D-5D24-4D8F-BA08-F82737CC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3342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TEXT</a:t>
            </a:r>
          </a:p>
        </p:txBody>
      </p:sp>
      <p:sp>
        <p:nvSpPr>
          <p:cNvPr id="24" name="node-copy-TEXT">
            <a:extLst xmlns:a="http://schemas.openxmlformats.org/drawingml/2006/main">
              <a:ext uri="{FF2B5EF4-FFF2-40B4-BE49-F238E27FC236}">
                <a16:creationId xmlns:a16="http://schemas.microsoft.com/office/drawing/2014/main" id="{020E3084-967E-416F-BA6B-310A92ED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62000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summary used for semantic ranking</a:t>
            </a:r>
          </a:p>
        </p:txBody>
      </p:sp>
      <p:sp>
        <p:nvSpPr>
          <p:cNvPr id="25" name="node-EVIDENCE">
            <a:extLst xmlns:a="http://schemas.openxmlformats.org/drawingml/2006/main">
              <a:ext uri="{FF2B5EF4-FFF2-40B4-BE49-F238E27FC236}">
                <a16:creationId xmlns:a16="http://schemas.microsoft.com/office/drawing/2014/main" id="{29A8DC5A-BD9B-476F-AC33-E1BF45A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1230" y="7115810"/>
            <a:ext cx="3836670" cy="2127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6" name="label-evidence">
            <a:extLst xmlns:a="http://schemas.openxmlformats.org/drawingml/2006/main">
              <a:ext uri="{FF2B5EF4-FFF2-40B4-BE49-F238E27FC236}">
                <a16:creationId xmlns:a16="http://schemas.microsoft.com/office/drawing/2014/main" id="{B9343F73-F29C-45D7-BC45-40A28FCF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3342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EVIDENCE</a:t>
            </a:r>
          </a:p>
        </p:txBody>
      </p:sp>
      <p:sp>
        <p:nvSpPr>
          <p:cNvPr id="27" name="node-copy-EVIDENCE">
            <a:extLst xmlns:a="http://schemas.openxmlformats.org/drawingml/2006/main">
              <a:ext uri="{FF2B5EF4-FFF2-40B4-BE49-F238E27FC236}">
                <a16:creationId xmlns:a16="http://schemas.microsoft.com/office/drawing/2014/main" id="{C6FE3686-FCE7-4EBC-84A2-4A1BDB1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62000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diagnostics attached to each claim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92F4813C-C5D4-47A5-A857-CB6269F3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47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Production implication: retrieval can cite route features and data quality, not just emit a plausible answer.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5D8D9-6F60-42CF-91DC-CF35012F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525000"/>
            <a:ext cx="7696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1171695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E2FB576-18D6-41DD-869A-41A8B02F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942A10-C7FD-4156-8048-00DE4AC3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13157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Evaluation says profile ranking is useful, but not yet a victory lap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6F6C8B-3BC0-4700-A9A3-B030FFF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The profile baseline improves the strongest graded/path signal over shortest distance on a small, noisy OSM pseudo-history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801DF48-066B-4847-BCDC-351A354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DBDD0-5704-40A6-87D4-AE46F64B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076A7-3F37-4E43-9729-8DFBCFE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9600"/>
            <a:ext cx="95250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metric-value-Profile NDCG@3">
            <a:extLst xmlns:a="http://schemas.openxmlformats.org/drawingml/2006/main">
              <a:ext uri="{FF2B5EF4-FFF2-40B4-BE49-F238E27FC236}">
                <a16:creationId xmlns:a16="http://schemas.microsoft.com/office/drawing/2014/main" id="{76082883-B093-412A-B822-8A795C2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662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766E"/>
                </a:solidFill>
              </a:defRPr>
            </a:pPr>
            <a:r>
              <a:rPr sz="4200" b="1">
                <a:solidFill>
                  <a:srgbClr val="0F766E"/>
                </a:solidFill>
              </a:rPr>
              <a:t>0.727</a:t>
            </a:r>
          </a:p>
        </p:txBody>
      </p:sp>
      <p:sp>
        <p:nvSpPr>
          <p:cNvPr id="8" name="metric-label-Profile NDCG@3">
            <a:extLst xmlns:a="http://schemas.openxmlformats.org/drawingml/2006/main">
              <a:ext uri="{FF2B5EF4-FFF2-40B4-BE49-F238E27FC236}">
                <a16:creationId xmlns:a16="http://schemas.microsoft.com/office/drawing/2014/main" id="{B15247AF-1AF7-4309-9502-120882B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6A"/>
                </a:solidFill>
              </a:defRPr>
            </a:pPr>
            <a:r>
              <a:rPr sz="1350">
                <a:solidFill>
                  <a:srgbClr val="58706A"/>
                </a:solidFill>
              </a:rPr>
              <a:t>Profile NDCG@3</a:t>
            </a:r>
          </a:p>
        </p:txBody>
      </p:sp>
      <p:sp>
        <p:nvSpPr>
          <p:cNvPr id="9" name="metric-value-Profile path F1">
            <a:extLst xmlns:a="http://schemas.openxmlformats.org/drawingml/2006/main">
              <a:ext uri="{FF2B5EF4-FFF2-40B4-BE49-F238E27FC236}">
                <a16:creationId xmlns:a16="http://schemas.microsoft.com/office/drawing/2014/main" id="{ABFAC942-EB57-4B7A-A2B8-76D59678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662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3D08A"/>
                </a:solidFill>
              </a:defRPr>
            </a:pPr>
            <a:r>
              <a:rPr sz="4200" b="1">
                <a:solidFill>
                  <a:srgbClr val="43D08A"/>
                </a:solidFill>
              </a:rPr>
              <a:t>0.630</a:t>
            </a:r>
          </a:p>
        </p:txBody>
      </p:sp>
      <p:sp>
        <p:nvSpPr>
          <p:cNvPr id="10" name="metric-label-Profile path F1">
            <a:extLst xmlns:a="http://schemas.openxmlformats.org/drawingml/2006/main">
              <a:ext uri="{FF2B5EF4-FFF2-40B4-BE49-F238E27FC236}">
                <a16:creationId xmlns:a16="http://schemas.microsoft.com/office/drawing/2014/main" id="{D4BA6F89-63E2-41AD-B584-49DB1045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6A"/>
                </a:solidFill>
              </a:defRPr>
            </a:pPr>
            <a:r>
              <a:rPr sz="1350">
                <a:solidFill>
                  <a:srgbClr val="58706A"/>
                </a:solidFill>
              </a:rPr>
              <a:t>Profile path F1</a:t>
            </a:r>
          </a:p>
        </p:txBody>
      </p:sp>
      <p:sp>
        <p:nvSpPr>
          <p:cNvPr id="11" name="metric-value-successful route-candidate queries">
            <a:extLst xmlns:a="http://schemas.openxmlformats.org/drawingml/2006/main">
              <a:ext uri="{FF2B5EF4-FFF2-40B4-BE49-F238E27FC236}">
                <a16:creationId xmlns:a16="http://schemas.microsoft.com/office/drawing/2014/main" id="{ECAC3911-71F6-4C37-B163-A112DE1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662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</a:defRPr>
            </a:pPr>
            <a:r>
              <a:rPr sz="42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12" name="metric-label-successful route-candidate queries">
            <a:extLst xmlns:a="http://schemas.openxmlformats.org/drawingml/2006/main">
              <a:ext uri="{FF2B5EF4-FFF2-40B4-BE49-F238E27FC236}">
                <a16:creationId xmlns:a16="http://schemas.microsoft.com/office/drawing/2014/main" id="{104AC4BC-78D6-425B-9F6E-9D76FF9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6A"/>
                </a:solidFill>
              </a:defRPr>
            </a:pPr>
            <a:r>
              <a:rPr sz="1350">
                <a:solidFill>
                  <a:srgbClr val="58706A"/>
                </a:solidFill>
              </a:rPr>
              <a:t>successful route-candidate queries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6F171-DA96-4D2F-B31B-DD15E292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662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706A"/>
                </a:solidFill>
              </a:defRPr>
            </a:pPr>
            <a:r>
              <a:rPr sz="1650">
                <a:solidFill>
                  <a:srgbClr val="58706A"/>
                </a:solidFill>
              </a:rPr>
              <a:t>Interpretation: promising system behavior, not a claim that it beats prior personalized-routing research.</a:t>
            </a:r>
          </a:p>
        </p:txBody>
      </p:sp>
      <p:graphicFrame>
        <p:nvGraphicFramePr>
          <p:cNvPr id="14" name="evaluation-chart"/>
          <p:cNvGraphicFramePr/>
          <p:nvPr/>
        </p:nvGraphicFramePr>
        <p:xfrm>
          <a:off xmlns:a="http://schemas.openxmlformats.org/drawingml/2006/main" x="7945564" y="3116580"/>
          <a:ext xmlns:a="http://schemas.openxmlformats.org/drawingml/2006/main" cx="9542336" cy="61455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aa37943292471a"/>
          </a:graphicData>
        </a:graphic>
      </p:graphicFrame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89FEC4ED-BF87-47BD-A795-787F757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6629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Source: data/route_candidate_baseline_comparison.json. Prompt and hybrid use synthetic preference text as ablation 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CFF2E-0454-4FCB-9A49-1501FA0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9525000"/>
            <a:ext cx="95250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5216343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796DE36-AF48-46B5-A2A1-AAE49DF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73ECF-8E53-41F8-89BE-2AD0EB0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1620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The strongest engineering signal is the caveat handling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2EA793-609E-4978-A69D-8FE93B22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22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The system separates reconstruction quality from ranking quality instead of hiding data uncertainty.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C91C26-E26B-4C2F-BA10-0B39D36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13384-4680-425C-9AA6-6B7B5D74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6290D-CBE2-45CA-AA7F-E0F99E22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600"/>
            <a:ext cx="8077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node-25,000">
            <a:extLst xmlns:a="http://schemas.openxmlformats.org/drawingml/2006/main">
              <a:ext uri="{FF2B5EF4-FFF2-40B4-BE49-F238E27FC236}">
                <a16:creationId xmlns:a16="http://schemas.microsoft.com/office/drawing/2014/main" id="{BB5F01DD-0938-4A5D-A04C-04C44071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0360"/>
            <a:ext cx="4043363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8" name="label-25-000">
            <a:extLst xmlns:a="http://schemas.openxmlformats.org/drawingml/2006/main">
              <a:ext uri="{FF2B5EF4-FFF2-40B4-BE49-F238E27FC236}">
                <a16:creationId xmlns:a16="http://schemas.microsoft.com/office/drawing/2014/main" id="{CB1ACED9-30F2-4270-931E-EAD2F427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25,000</a:t>
            </a:r>
          </a:p>
        </p:txBody>
      </p:sp>
      <p:sp>
        <p:nvSpPr>
          <p:cNvPr id="9" name="node-copy-25,000">
            <a:extLst xmlns:a="http://schemas.openxmlformats.org/drawingml/2006/main">
              <a:ext uri="{FF2B5EF4-FFF2-40B4-BE49-F238E27FC236}">
                <a16:creationId xmlns:a16="http://schemas.microsoft.com/office/drawing/2014/main" id="{B3C6C402-77FF-480B-8273-D0341B2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58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timestamped OSM trackpoints probed</a:t>
            </a:r>
          </a:p>
        </p:txBody>
      </p:sp>
      <p:sp>
        <p:nvSpPr>
          <p:cNvPr id="10" name="node-11">
            <a:extLst xmlns:a="http://schemas.openxmlformats.org/drawingml/2006/main">
              <a:ext uri="{FF2B5EF4-FFF2-40B4-BE49-F238E27FC236}">
                <a16:creationId xmlns:a16="http://schemas.microsoft.com/office/drawing/2014/main" id="{460E4F1D-93C5-4F54-B62C-AE6B6520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63" y="2880360"/>
            <a:ext cx="4043363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1" name="label-11">
            <a:extLst xmlns:a="http://schemas.openxmlformats.org/drawingml/2006/main">
              <a:ext uri="{FF2B5EF4-FFF2-40B4-BE49-F238E27FC236}">
                <a16:creationId xmlns:a16="http://schemas.microsoft.com/office/drawing/2014/main" id="{CABFAA7F-DBE5-4200-9FD2-9DDA5CF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861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11</a:t>
            </a:r>
          </a:p>
        </p:txBody>
      </p:sp>
      <p:sp>
        <p:nvSpPr>
          <p:cNvPr id="12" name="node-copy-11">
            <a:extLst xmlns:a="http://schemas.openxmlformats.org/drawingml/2006/main">
              <a:ext uri="{FF2B5EF4-FFF2-40B4-BE49-F238E27FC236}">
                <a16:creationId xmlns:a16="http://schemas.microsoft.com/office/drawing/2014/main" id="{8BA4DB3E-5860-4F6F-9FB2-553C7FD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71850"/>
            <a:ext cx="358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useful pseudo-segments found</a:t>
            </a:r>
          </a:p>
        </p:txBody>
      </p:sp>
      <p:sp>
        <p:nvSpPr>
          <p:cNvPr id="13" name="node-100%">
            <a:extLst xmlns:a="http://schemas.openxmlformats.org/drawingml/2006/main">
              <a:ext uri="{FF2B5EF4-FFF2-40B4-BE49-F238E27FC236}">
                <a16:creationId xmlns:a16="http://schemas.microsoft.com/office/drawing/2014/main" id="{880B5446-47C6-4733-BFE1-216D28F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2185"/>
            <a:ext cx="4043363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4" name="label-100-">
            <a:extLst xmlns:a="http://schemas.openxmlformats.org/drawingml/2006/main">
              <a:ext uri="{FF2B5EF4-FFF2-40B4-BE49-F238E27FC236}">
                <a16:creationId xmlns:a16="http://schemas.microsoft.com/office/drawing/2014/main" id="{CF3E75AC-7CA4-4C99-92DA-185E18E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674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15" name="node-copy-100%">
            <a:extLst xmlns:a="http://schemas.openxmlformats.org/drawingml/2006/main">
              <a:ext uri="{FF2B5EF4-FFF2-40B4-BE49-F238E27FC236}">
                <a16:creationId xmlns:a16="http://schemas.microsoft.com/office/drawing/2014/main" id="{56083119-EBD0-45F0-97E3-9136CBA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53200"/>
            <a:ext cx="358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map-match success rate</a:t>
            </a:r>
          </a:p>
        </p:txBody>
      </p:sp>
      <p:sp>
        <p:nvSpPr>
          <p:cNvPr id="16" name="node-6.99 m">
            <a:extLst xmlns:a="http://schemas.openxmlformats.org/drawingml/2006/main">
              <a:ext uri="{FF2B5EF4-FFF2-40B4-BE49-F238E27FC236}">
                <a16:creationId xmlns:a16="http://schemas.microsoft.com/office/drawing/2014/main" id="{8691288F-C3C4-42C9-8D99-52A7720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63" y="6052185"/>
            <a:ext cx="4043363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7" name="label-6-99-m">
            <a:extLst xmlns:a="http://schemas.openxmlformats.org/drawingml/2006/main">
              <a:ext uri="{FF2B5EF4-FFF2-40B4-BE49-F238E27FC236}">
                <a16:creationId xmlns:a16="http://schemas.microsoft.com/office/drawing/2014/main" id="{4440BA6A-CCF0-402E-AF07-E49B50E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2674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4A"/>
                </a:solidFill>
              </a:defRPr>
            </a:pPr>
            <a:r>
              <a:rPr sz="1275" b="1">
                <a:solidFill>
                  <a:srgbClr val="FF6B4A"/>
                </a:solidFill>
              </a:rPr>
              <a:t>6.99 m</a:t>
            </a:r>
          </a:p>
        </p:txBody>
      </p:sp>
      <p:sp>
        <p:nvSpPr>
          <p:cNvPr id="18" name="node-copy-6.99 m">
            <a:extLst xmlns:a="http://schemas.openxmlformats.org/drawingml/2006/main">
              <a:ext uri="{FF2B5EF4-FFF2-40B4-BE49-F238E27FC236}">
                <a16:creationId xmlns:a16="http://schemas.microsoft.com/office/drawing/2014/main" id="{B043A9E1-1118-49B0-81F5-A8F14571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553200"/>
            <a:ext cx="358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median GPS-to-route distance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80744-1BE3-4EFC-861B-D79E9E86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809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Passes exploratory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0C8B9-965E-4E84-A0C6-738512E6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81400"/>
            <a:ext cx="8096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31F"/>
                </a:solidFill>
              </a:defRPr>
            </a:pPr>
            <a:r>
              <a:rPr sz="2250" b="1">
                <a:solidFill>
                  <a:srgbClr val="10231F"/>
                </a:solidFill>
              </a:rPr>
              <a:t>Fails strict gate because median route-distance ratio is 2.37, above the strict target range. That means the route may stay close to points while still overbuilding path length.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6758C-646B-4A85-B342-C75C48E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38700"/>
            <a:ext cx="809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706A"/>
                </a:solidFill>
              </a:defRPr>
            </a:pPr>
            <a:r>
              <a:rPr sz="1650">
                <a:solidFill>
                  <a:srgbClr val="58706A"/>
                </a:solidFill>
              </a:rPr>
              <a:t>Production move: promote confidence and reconstruction diagnostics into the API response, evaluation dashboards, and human review loop.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611974DC-4F9E-484B-A414-9778EB7A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096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Source: data/threshold_sensitivity.json and docs/THRESHOLD_SENSITIVITY_STUDY.md.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2F829-0201-4192-AB49-EACF68A3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9525000"/>
            <a:ext cx="8077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260171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974C4DF-E85B-4708-986F-AAB821D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1D27B2-6F26-4C5D-B6AE-4A592CA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770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31F"/>
                </a:solidFill>
              </a:defRPr>
            </a:pPr>
            <a:r>
              <a:rPr sz="4050" b="1">
                <a:solidFill>
                  <a:srgbClr val="10231F"/>
                </a:solidFill>
              </a:rPr>
              <a:t>What I would productionize first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1DF919-BD2C-4A23-9742-1CC33EC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102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8706A"/>
                </a:solidFill>
              </a:defRPr>
            </a:pPr>
            <a:r>
              <a:rPr sz="1800">
                <a:solidFill>
                  <a:srgbClr val="58706A"/>
                </a:solidFill>
              </a:rPr>
              <a:t>The existing backend is enough to show the product; the next layer is reliability, observability, and evaluation discipline.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A742BBA-5F32-4198-8C96-6FFCDEB6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79979-41B2-41FF-9294-6895183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4FD5B-7C1C-4B05-B858-A29DA7D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600"/>
            <a:ext cx="8077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node-API CONTRACT">
            <a:extLst xmlns:a="http://schemas.openxmlformats.org/drawingml/2006/main">
              <a:ext uri="{FF2B5EF4-FFF2-40B4-BE49-F238E27FC236}">
                <a16:creationId xmlns:a16="http://schemas.microsoft.com/office/drawing/2014/main" id="{B9E34603-9488-448E-9858-0E5B8E54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131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8" name="label-api-contract">
            <a:extLst xmlns:a="http://schemas.openxmlformats.org/drawingml/2006/main">
              <a:ext uri="{FF2B5EF4-FFF2-40B4-BE49-F238E27FC236}">
                <a16:creationId xmlns:a16="http://schemas.microsoft.com/office/drawing/2014/main" id="{F426AA86-962D-4D56-A914-194D7C2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API CONTRACT</a:t>
            </a:r>
          </a:p>
        </p:txBody>
      </p:sp>
      <p:sp>
        <p:nvSpPr>
          <p:cNvPr id="9" name="node-copy-API CONTRACT">
            <a:extLst xmlns:a="http://schemas.openxmlformats.org/drawingml/2006/main">
              <a:ext uri="{FF2B5EF4-FFF2-40B4-BE49-F238E27FC236}">
                <a16:creationId xmlns:a16="http://schemas.microsoft.com/office/drawing/2014/main" id="{838A665A-7921-4D8C-912E-0EFEF5A2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763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Keep route features, component scores, summary, coordinates, and profile summary in every response.</a:t>
            </a:r>
          </a:p>
        </p:txBody>
      </p:sp>
      <p:sp>
        <p:nvSpPr>
          <p:cNvPr id="10" name="node-CACHE + COST">
            <a:extLst xmlns:a="http://schemas.openxmlformats.org/drawingml/2006/main">
              <a:ext uri="{FF2B5EF4-FFF2-40B4-BE49-F238E27FC236}">
                <a16:creationId xmlns:a16="http://schemas.microsoft.com/office/drawing/2014/main" id="{A048448C-D883-452D-A29C-7EC867A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206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1" name="label-cache-cost">
            <a:extLst xmlns:a="http://schemas.openxmlformats.org/drawingml/2006/main">
              <a:ext uri="{FF2B5EF4-FFF2-40B4-BE49-F238E27FC236}">
                <a16:creationId xmlns:a16="http://schemas.microsoft.com/office/drawing/2014/main" id="{EE557CBD-FA32-4D96-98B7-E8BE628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CACHE + COST</a:t>
            </a:r>
          </a:p>
        </p:txBody>
      </p:sp>
      <p:sp>
        <p:nvSpPr>
          <p:cNvPr id="12" name="node-copy-CACHE + COST">
            <a:extLst xmlns:a="http://schemas.openxmlformats.org/drawingml/2006/main">
              <a:ext uri="{FF2B5EF4-FFF2-40B4-BE49-F238E27FC236}">
                <a16:creationId xmlns:a16="http://schemas.microsoft.com/office/drawing/2014/main" id="{52E4E112-81F4-42CC-9132-FF190BE5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763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Cache OSM graph builds by bounding box and precompute common property-area graphs.</a:t>
            </a:r>
          </a:p>
        </p:txBody>
      </p:sp>
      <p:sp>
        <p:nvSpPr>
          <p:cNvPr id="13" name="node-EVAL HARNESS">
            <a:extLst xmlns:a="http://schemas.openxmlformats.org/drawingml/2006/main">
              <a:ext uri="{FF2B5EF4-FFF2-40B4-BE49-F238E27FC236}">
                <a16:creationId xmlns:a16="http://schemas.microsoft.com/office/drawing/2014/main" id="{D3445621-19BE-433B-AD41-2A54E5CE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4281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4" name="label-eval-harness">
            <a:extLst xmlns:a="http://schemas.openxmlformats.org/drawingml/2006/main">
              <a:ext uri="{FF2B5EF4-FFF2-40B4-BE49-F238E27FC236}">
                <a16:creationId xmlns:a16="http://schemas.microsoft.com/office/drawing/2014/main" id="{7A3C5B25-3099-40EC-8E8E-8009BE3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485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EVAL HARNESS</a:t>
            </a:r>
          </a:p>
        </p:txBody>
      </p:sp>
      <p:sp>
        <p:nvSpPr>
          <p:cNvPr id="15" name="node-copy-EVAL HARNESS">
            <a:extLst xmlns:a="http://schemas.openxmlformats.org/drawingml/2006/main">
              <a:ext uri="{FF2B5EF4-FFF2-40B4-BE49-F238E27FC236}">
                <a16:creationId xmlns:a16="http://schemas.microsoft.com/office/drawing/2014/main" id="{494F883D-5DBA-4C17-B5BE-BB0976C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34300"/>
            <a:ext cx="763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Run random, shortest, profile, prompt, hybrid on the same candidate pool after every ranking change.</a:t>
            </a:r>
          </a:p>
        </p:txBody>
      </p:sp>
      <p:sp>
        <p:nvSpPr>
          <p:cNvPr id="16" name="node-OBSERVABILITY">
            <a:extLst xmlns:a="http://schemas.openxmlformats.org/drawingml/2006/main">
              <a:ext uri="{FF2B5EF4-FFF2-40B4-BE49-F238E27FC236}">
                <a16:creationId xmlns:a16="http://schemas.microsoft.com/office/drawing/2014/main" id="{F09A01ED-2393-46E9-A025-478DB833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6131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7" name="label-observability">
            <a:extLst xmlns:a="http://schemas.openxmlformats.org/drawingml/2006/main">
              <a:ext uri="{FF2B5EF4-FFF2-40B4-BE49-F238E27FC236}">
                <a16:creationId xmlns:a16="http://schemas.microsoft.com/office/drawing/2014/main" id="{228BA9F5-1CDC-4DAF-A996-953F2258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4A"/>
                </a:solidFill>
              </a:defRPr>
            </a:pPr>
            <a:r>
              <a:rPr sz="1275" b="1">
                <a:solidFill>
                  <a:srgbClr val="FF6B4A"/>
                </a:solidFill>
              </a:rPr>
              <a:t>OBSERVABILITY</a:t>
            </a:r>
          </a:p>
        </p:txBody>
      </p:sp>
      <p:sp>
        <p:nvSpPr>
          <p:cNvPr id="18" name="node-copy-OBSERVABILITY">
            <a:extLst xmlns:a="http://schemas.openxmlformats.org/drawingml/2006/main">
              <a:ext uri="{FF2B5EF4-FFF2-40B4-BE49-F238E27FC236}">
                <a16:creationId xmlns:a16="http://schemas.microsoft.com/office/drawing/2014/main" id="{D9E0C3E4-39CE-4C95-B2C1-E26DB9F5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Log ranking inputs, top-k deltas, feature weights, and diagnostics for replay.</a:t>
            </a:r>
          </a:p>
        </p:txBody>
      </p:sp>
      <p:sp>
        <p:nvSpPr>
          <p:cNvPr id="19" name="node-DATA GOVERNANCE">
            <a:extLst xmlns:a="http://schemas.openxmlformats.org/drawingml/2006/main">
              <a:ext uri="{FF2B5EF4-FFF2-40B4-BE49-F238E27FC236}">
                <a16:creationId xmlns:a16="http://schemas.microsoft.com/office/drawing/2014/main" id="{96CCC65E-6256-4382-A8B5-C0DF39FB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05206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0" name="label-data-governance">
            <a:extLst xmlns:a="http://schemas.openxmlformats.org/drawingml/2006/main">
              <a:ext uri="{FF2B5EF4-FFF2-40B4-BE49-F238E27FC236}">
                <a16:creationId xmlns:a16="http://schemas.microsoft.com/office/drawing/2014/main" id="{93CF8C7B-FD00-43BA-803A-F9CEC35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DATA GOVERNANCE</a:t>
            </a:r>
          </a:p>
        </p:txBody>
      </p:sp>
      <p:sp>
        <p:nvSpPr>
          <p:cNvPr id="21" name="node-copy-DATA GOVERNANCE">
            <a:extLst xmlns:a="http://schemas.openxmlformats.org/drawingml/2006/main">
              <a:ext uri="{FF2B5EF4-FFF2-40B4-BE49-F238E27FC236}">
                <a16:creationId xmlns:a16="http://schemas.microsoft.com/office/drawing/2014/main" id="{CF24614E-FBC0-41E4-B996-986D7733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435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Label pseudo-history, synthetic preference text, and clean user-labeled data separately.</a:t>
            </a:r>
          </a:p>
        </p:txBody>
      </p:sp>
      <p:sp>
        <p:nvSpPr>
          <p:cNvPr id="22" name="node-HUMAN LOOP">
            <a:extLst xmlns:a="http://schemas.openxmlformats.org/drawingml/2006/main">
              <a:ext uri="{FF2B5EF4-FFF2-40B4-BE49-F238E27FC236}">
                <a16:creationId xmlns:a16="http://schemas.microsoft.com/office/drawing/2014/main" id="{3419C2E3-0F68-439E-98EA-59A17BA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242810"/>
            <a:ext cx="80867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23" name="label-human-loop">
            <a:extLst xmlns:a="http://schemas.openxmlformats.org/drawingml/2006/main">
              <a:ext uri="{FF2B5EF4-FFF2-40B4-BE49-F238E27FC236}">
                <a16:creationId xmlns:a16="http://schemas.microsoft.com/office/drawing/2014/main" id="{45FB56D8-E6AC-4E8D-8451-16551FF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4485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HUMAN LOOP</a:t>
            </a:r>
          </a:p>
        </p:txBody>
      </p:sp>
      <p:sp>
        <p:nvSpPr>
          <p:cNvPr id="24" name="node-copy-HUMAN LOOP">
            <a:extLst xmlns:a="http://schemas.openxmlformats.org/drawingml/2006/main">
              <a:ext uri="{FF2B5EF4-FFF2-40B4-BE49-F238E27FC236}">
                <a16:creationId xmlns:a16="http://schemas.microsoft.com/office/drawing/2014/main" id="{96D6D315-D4B6-444D-BC6B-FD7D9DCE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7343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Capture route accept/reject feedback before introducing learned rankers.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4DBA41C2-2F7D-486E-9AA1-5C381A0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096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A8E88"/>
                </a:solidFill>
              </a:defRPr>
            </a:pPr>
            <a:r>
              <a:rPr sz="975">
                <a:solidFill>
                  <a:srgbClr val="7A8E88"/>
                </a:solidFill>
              </a:rPr>
              <a:t>Tradeoff posture: ship the demo, but do not let model confidence outrun data provenance.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B65BA-B256-40BC-BA09-BE340E1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9525000"/>
            <a:ext cx="8077200" cy="9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</p:spTree>
    <p:extLst>
      <p:ext uri="{BB962C8B-B14F-4D97-AF65-F5344CB8AC3E}">
        <p14:creationId xmlns:p14="http://schemas.microsoft.com/office/powerpoint/2010/main" val="10844274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BDB9AFB-0217-43E6-B930-129884CD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354F4-5FD3-40EB-8833-C875DC4A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7581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Why this fits Aker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F8B9F-92BD-49D7-80EB-20E9C95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08A"/>
          </a:solidFill>
          <a:ln xmlns:a="http://schemas.openxmlformats.org/drawingml/2006/main" w="0">
            <a:solidFill>
              <a:srgbClr val="43D0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88E36-0E1E-4EBA-A489-5DA402FE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800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CBE4D9"/>
                </a:solidFill>
              </a:defRPr>
            </a:pPr>
            <a:r>
              <a:rPr sz="2475">
                <a:solidFill>
                  <a:srgbClr val="CBE4D9"/>
                </a:solidFill>
              </a:rPr>
              <a:t>It is an AI platform pattern: connect data, encode domain judgment, rank operational options, expose uncertainty, and make the system better every sprint.</a:t>
            </a:r>
          </a:p>
        </p:txBody>
      </p:sp>
      <p:sp>
        <p:nvSpPr>
          <p:cNvPr id="5" name="node-I can build end-to-end">
            <a:extLst xmlns:a="http://schemas.openxmlformats.org/drawingml/2006/main">
              <a:ext uri="{FF2B5EF4-FFF2-40B4-BE49-F238E27FC236}">
                <a16:creationId xmlns:a16="http://schemas.microsoft.com/office/drawing/2014/main" id="{9B5D66DD-84E2-442D-94C4-64A9679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653" y="723900"/>
            <a:ext cx="8381048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6" name="label-i-can-build-end-to-end">
            <a:extLst xmlns:a="http://schemas.openxmlformats.org/drawingml/2006/main">
              <a:ext uri="{FF2B5EF4-FFF2-40B4-BE49-F238E27FC236}">
                <a16:creationId xmlns:a16="http://schemas.microsoft.com/office/drawing/2014/main" id="{96BF70D8-A044-4A83-8A73-497F123D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334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3D08A"/>
                </a:solidFill>
              </a:defRPr>
            </a:pPr>
            <a:r>
              <a:rPr sz="1275" b="1">
                <a:solidFill>
                  <a:srgbClr val="43D08A"/>
                </a:solidFill>
              </a:rPr>
              <a:t>I can build end-to-end</a:t>
            </a:r>
          </a:p>
        </p:txBody>
      </p:sp>
      <p:sp>
        <p:nvSpPr>
          <p:cNvPr id="7" name="node-copy-I can build end-to-end">
            <a:extLst xmlns:a="http://schemas.openxmlformats.org/drawingml/2006/main">
              <a:ext uri="{FF2B5EF4-FFF2-40B4-BE49-F238E27FC236}">
                <a16:creationId xmlns:a16="http://schemas.microsoft.com/office/drawing/2014/main" id="{F7C904C5-5BC5-4E34-8460-7AEA8D3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192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FastAPI service, data pipeline, model/ranker, evaluation artifacts, and demo surface.</a:t>
            </a:r>
          </a:p>
        </p:txBody>
      </p:sp>
      <p:sp>
        <p:nvSpPr>
          <p:cNvPr id="8" name="node-I know where the risk is">
            <a:extLst xmlns:a="http://schemas.openxmlformats.org/drawingml/2006/main">
              <a:ext uri="{FF2B5EF4-FFF2-40B4-BE49-F238E27FC236}">
                <a16:creationId xmlns:a16="http://schemas.microsoft.com/office/drawing/2014/main" id="{BAEEEF5A-65C9-4A6F-AC9D-C8109256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653" y="3581400"/>
            <a:ext cx="8381048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9" name="label-i-know-where-the-risk-is">
            <a:extLst xmlns:a="http://schemas.openxmlformats.org/drawingml/2006/main">
              <a:ext uri="{FF2B5EF4-FFF2-40B4-BE49-F238E27FC236}">
                <a16:creationId xmlns:a16="http://schemas.microsoft.com/office/drawing/2014/main" id="{CCDA3EEA-2BE3-4189-8FDB-BAED7F04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909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I know where the risk is</a:t>
            </a:r>
          </a:p>
        </p:txBody>
      </p:sp>
      <p:sp>
        <p:nvSpPr>
          <p:cNvPr id="10" name="node-copy-I know where the risk is">
            <a:extLst xmlns:a="http://schemas.openxmlformats.org/drawingml/2006/main">
              <a:ext uri="{FF2B5EF4-FFF2-40B4-BE49-F238E27FC236}">
                <a16:creationId xmlns:a16="http://schemas.microsoft.com/office/drawing/2014/main" id="{F90DC073-DB02-4302-A8E4-13086425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Data quality, map matching, synthetic labels, overclaiming, and deployment cost.</a:t>
            </a:r>
          </a:p>
        </p:txBody>
      </p:sp>
      <p:sp>
        <p:nvSpPr>
          <p:cNvPr id="11" name="node-I can translate to Aker">
            <a:extLst xmlns:a="http://schemas.openxmlformats.org/drawingml/2006/main">
              <a:ext uri="{FF2B5EF4-FFF2-40B4-BE49-F238E27FC236}">
                <a16:creationId xmlns:a16="http://schemas.microsoft.com/office/drawing/2014/main" id="{F4EC2C4A-1420-429D-B291-51B4B600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653" y="6438900"/>
            <a:ext cx="8381048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0"/>
            </a:solidFill>
            <a:prstDash val="solid"/>
          </a:ln>
        </p:spPr>
      </p:sp>
      <p:sp>
        <p:nvSpPr>
          <p:cNvPr id="12" name="label-i-can-translate-to-aker">
            <a:extLst xmlns:a="http://schemas.openxmlformats.org/drawingml/2006/main">
              <a:ext uri="{FF2B5EF4-FFF2-40B4-BE49-F238E27FC236}">
                <a16:creationId xmlns:a16="http://schemas.microsoft.com/office/drawing/2014/main" id="{786DBCB8-487B-4C6E-A647-C9B5783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6484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6CDF"/>
                </a:solidFill>
              </a:defRPr>
            </a:pPr>
            <a:r>
              <a:rPr sz="1275" b="1">
                <a:solidFill>
                  <a:srgbClr val="2D6CDF"/>
                </a:solidFill>
              </a:rPr>
              <a:t>I can translate to Aker</a:t>
            </a:r>
          </a:p>
        </p:txBody>
      </p:sp>
      <p:sp>
        <p:nvSpPr>
          <p:cNvPr id="13" name="node-copy-I can translate to Aker">
            <a:extLst xmlns:a="http://schemas.openxmlformats.org/drawingml/2006/main">
              <a:ext uri="{FF2B5EF4-FFF2-40B4-BE49-F238E27FC236}">
                <a16:creationId xmlns:a16="http://schemas.microsoft.com/office/drawing/2014/main" id="{B2466547-642F-461F-9176-01EC1D5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934200"/>
            <a:ext cx="7924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F"/>
                </a:solidFill>
              </a:defRPr>
            </a:pPr>
            <a:r>
              <a:rPr sz="1650" b="1">
                <a:solidFill>
                  <a:srgbClr val="10231F"/>
                </a:solidFill>
              </a:rPr>
              <a:t>Property operations, investment diligence, resident experience, and internal knowledge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FEC43-41AC-4EF3-8029-C00796EF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C2B3"/>
                </a:solidFill>
              </a:defRPr>
            </a:pPr>
            <a:r>
              <a:rPr sz="1500">
                <a:solidFill>
                  <a:srgbClr val="9FC2B3"/>
                </a:solidFill>
              </a:rPr>
              <a:t>Round 1 discussion path: product problem -&gt; architecture -&gt; scoring tradeoffs -&gt; evaluation -&gt; production roadmap.</a:t>
            </a:r>
          </a:p>
        </p:txBody>
      </p:sp>
    </p:spTree>
    <p:extLst>
      <p:ext uri="{BB962C8B-B14F-4D97-AF65-F5344CB8AC3E}">
        <p14:creationId xmlns:p14="http://schemas.microsoft.com/office/powerpoint/2010/main" val="1594876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2026-05-12T18:40:36.3070000Z</dcterms:created>
  <dcterms:modified xsi:type="dcterms:W3CDTF">2026-05-12T18:40:36.3070000Z</dcterms:modified>
</coreProperties>
</file>